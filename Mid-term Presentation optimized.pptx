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cc88dfe2164cab" /><Relationship Type="http://schemas.openxmlformats.org/officeDocument/2006/relationships/extended-properties" Target="/docProps/app.xml" Id="R350147a374d84718" /><Relationship Type="http://schemas.openxmlformats.org/officeDocument/2006/relationships/officeDocument" Target="/ppt/presentation.xml" Id="Rd5be115fbf144c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46f10374e646fe"/>
  </p:sldMasterIdLst>
  <p:notesMasterIdLst>
    <p:notesMasterId xmlns:r="http://schemas.openxmlformats.org/officeDocument/2006/relationships" r:id="Rfec533d82e314292"/>
  </p:notesMasterIdLst>
  <p:sldIdLst>
    <p:sldId xmlns:r="http://schemas.openxmlformats.org/officeDocument/2006/relationships" id="256" r:id="R635dbaf2f7fd43d9"/>
    <p:sldId xmlns:r="http://schemas.openxmlformats.org/officeDocument/2006/relationships" id="257" r:id="R5d871050d8fc4ead"/>
    <p:sldId xmlns:r="http://schemas.openxmlformats.org/officeDocument/2006/relationships" id="258" r:id="R1ac8a0f8910d46e7"/>
    <p:sldId xmlns:r="http://schemas.openxmlformats.org/officeDocument/2006/relationships" id="259" r:id="R8394af4ebeef4cb1"/>
    <p:sldId xmlns:r="http://schemas.openxmlformats.org/officeDocument/2006/relationships" id="260" r:id="R66e2b4f2cf4846fa"/>
    <p:sldId xmlns:r="http://schemas.openxmlformats.org/officeDocument/2006/relationships" id="261" r:id="R4b9f76d5c7464f13"/>
    <p:sldId xmlns:r="http://schemas.openxmlformats.org/officeDocument/2006/relationships" id="262" r:id="Rc452f49103c24dc9"/>
    <p:sldId xmlns:r="http://schemas.openxmlformats.org/officeDocument/2006/relationships" id="263" r:id="R9bd41d6300434db6"/>
    <p:sldId xmlns:r="http://schemas.openxmlformats.org/officeDocument/2006/relationships" id="264" r:id="R5d530a852f204555"/>
    <p:sldId xmlns:r="http://schemas.openxmlformats.org/officeDocument/2006/relationships" id="265" r:id="Rc941d646ff6043bb"/>
    <p:sldId xmlns:r="http://schemas.openxmlformats.org/officeDocument/2006/relationships" id="266" r:id="Re942b7cec3964d73"/>
    <p:sldId xmlns:r="http://schemas.openxmlformats.org/officeDocument/2006/relationships" id="267" r:id="R88a80e47973b4ce6"/>
    <p:sldId xmlns:r="http://schemas.openxmlformats.org/officeDocument/2006/relationships" id="268" r:id="R752fb4b47f6b49e8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7fbcdd2b0a4fcc" /><Relationship Type="http://schemas.openxmlformats.org/officeDocument/2006/relationships/slideMaster" Target="/ppt/slideMasters/slideMaster1.xml" Id="R4746f10374e646fe" /><Relationship Type="http://schemas.openxmlformats.org/officeDocument/2006/relationships/notesMaster" Target="/ppt/notesMasters/notesMaster1.xml" Id="Rfec533d82e314292" /><Relationship Type="http://schemas.openxmlformats.org/officeDocument/2006/relationships/presProps" Target="/ppt/presProps.xml" Id="R357822f9a5634f7e" /><Relationship Type="http://schemas.openxmlformats.org/officeDocument/2006/relationships/tableStyles" Target="/ppt/tableStyles.xml" Id="Re135cb58bb0f4142" /><Relationship Type="http://schemas.openxmlformats.org/officeDocument/2006/relationships/slide" Target="/ppt/slides/slide1.xml" Id="R635dbaf2f7fd43d9" /><Relationship Type="http://schemas.openxmlformats.org/officeDocument/2006/relationships/slide" Target="/ppt/slides/slide2.xml" Id="R5d871050d8fc4ead" /><Relationship Type="http://schemas.openxmlformats.org/officeDocument/2006/relationships/slide" Target="/ppt/slides/slide3.xml" Id="R1ac8a0f8910d46e7" /><Relationship Type="http://schemas.openxmlformats.org/officeDocument/2006/relationships/slide" Target="/ppt/slides/slide4.xml" Id="R8394af4ebeef4cb1" /><Relationship Type="http://schemas.openxmlformats.org/officeDocument/2006/relationships/slide" Target="/ppt/slides/slide5.xml" Id="R66e2b4f2cf4846fa" /><Relationship Type="http://schemas.openxmlformats.org/officeDocument/2006/relationships/slide" Target="/ppt/slides/slide6.xml" Id="R4b9f76d5c7464f13" /><Relationship Type="http://schemas.openxmlformats.org/officeDocument/2006/relationships/slide" Target="/ppt/slides/slide7.xml" Id="Rc452f49103c24dc9" /><Relationship Type="http://schemas.openxmlformats.org/officeDocument/2006/relationships/slide" Target="/ppt/slides/slide8.xml" Id="R9bd41d6300434db6" /><Relationship Type="http://schemas.openxmlformats.org/officeDocument/2006/relationships/slide" Target="/ppt/slides/slide9.xml" Id="R5d530a852f204555" /><Relationship Type="http://schemas.openxmlformats.org/officeDocument/2006/relationships/slide" Target="/ppt/slides/slide10.xml" Id="Rc941d646ff6043bb" /><Relationship Type="http://schemas.openxmlformats.org/officeDocument/2006/relationships/slide" Target="/ppt/slides/slide11.xml" Id="Re942b7cec3964d73" /><Relationship Type="http://schemas.openxmlformats.org/officeDocument/2006/relationships/slide" Target="/ppt/slides/slide12.xml" Id="R88a80e47973b4ce6" /><Relationship Type="http://schemas.openxmlformats.org/officeDocument/2006/relationships/slide" Target="/ppt/slides/slide13.xml" Id="R752fb4b47f6b49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7fe7ac144145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Default Design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1920f3449a4e7f" /><Relationship Type="http://schemas.openxmlformats.org/officeDocument/2006/relationships/notesMaster" Target="/ppt/notesMasters/notesMaster1.xml" Id="Ra8f7b773f00a43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e1e774c444cc0" /><Relationship Type="http://schemas.openxmlformats.org/officeDocument/2006/relationships/notesMaster" Target="/ppt/notesMasters/notesMaster1.xml" Id="Rca1b6232621d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70788b6d73473d" /><Relationship Type="http://schemas.openxmlformats.org/officeDocument/2006/relationships/notesMaster" Target="/ppt/notesMasters/notesMaster1.xml" Id="R14912d0568a7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5f02617b9d43f8" /><Relationship Type="http://schemas.openxmlformats.org/officeDocument/2006/relationships/notesMaster" Target="/ppt/notesMasters/notesMaster1.xml" Id="Re3687fbd94694f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2ae5e841b74522" /><Relationship Type="http://schemas.openxmlformats.org/officeDocument/2006/relationships/notesMaster" Target="/ppt/notesMasters/notesMaster1.xml" Id="R2de269a669004a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348a08de7a43a5" /><Relationship Type="http://schemas.openxmlformats.org/officeDocument/2006/relationships/notesMaster" Target="/ppt/notesMasters/notesMaster1.xml" Id="R47382dbbe38c40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809a8ec04c4e01" /><Relationship Type="http://schemas.openxmlformats.org/officeDocument/2006/relationships/notesMaster" Target="/ppt/notesMasters/notesMaster1.xml" Id="R509c862866e148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63d4cf8d254cb1" /><Relationship Type="http://schemas.openxmlformats.org/officeDocument/2006/relationships/notesMaster" Target="/ppt/notesMasters/notesMaster1.xml" Id="Rd75238731ef74f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88e2c9f4254930" /><Relationship Type="http://schemas.openxmlformats.org/officeDocument/2006/relationships/notesMaster" Target="/ppt/notesMasters/notesMaster1.xml" Id="R4f57f0f4e6a248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f35113f2bd4b18" /><Relationship Type="http://schemas.openxmlformats.org/officeDocument/2006/relationships/notesMaster" Target="/ppt/notesMasters/notesMaster1.xml" Id="R8ad66425362f4a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743dbabb55445e" /><Relationship Type="http://schemas.openxmlformats.org/officeDocument/2006/relationships/notesMaster" Target="/ppt/notesMasters/notesMaster1.xml" Id="Rffd4d28defbe41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0d4d1055d24c79" /><Relationship Type="http://schemas.openxmlformats.org/officeDocument/2006/relationships/notesMaster" Target="/ppt/notesMasters/notesMaster1.xml" Id="R79cc7a90269941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136486ab5d4af0" /><Relationship Type="http://schemas.openxmlformats.org/officeDocument/2006/relationships/notesMaster" Target="/ppt/notesMasters/notesMaster1.xml" Id="R217b3416733a4e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b1eab262346b6" /><Relationship Type="http://schemas.openxmlformats.org/officeDocument/2006/relationships/image" Target="/ppt/media/image.jpeg" Id="Rc03f4db25a1647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0daed6ae04513" /><Relationship Type="http://schemas.openxmlformats.org/officeDocument/2006/relationships/image" Target="/ppt/media/image2.jpeg" Id="R633d8e989ef744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dd15cdd3a4d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6d39f27144b52" /><Relationship Type="http://schemas.openxmlformats.org/officeDocument/2006/relationships/image" Target="/ppt/media/image2.jpeg" Id="Rf20333b40dbd48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e31df55184030" /><Relationship Type="http://schemas.openxmlformats.org/officeDocument/2006/relationships/image" Target="/ppt/media/image3.jpeg" Id="Ra31d38ef72ea4245" /></Relationships>
</file>

<file path=ppt/slideLayouts/slideLayout1.xml><?xml version="1.0" encoding="utf-8"?>
<p:sldLayout xmlns:p="http://schemas.openxmlformats.org/presentationml/2006/main" preserve="1" userDrawn="1">
  <p:cSld name="Title and Content">
    <p:bg>
      <p:bgPr>
        <a:blipFill xmlns:a="http://schemas.openxmlformats.org/drawingml/2006/main" rotWithShape="1">
          <a:blip xmlns:r="http://schemas.openxmlformats.org/officeDocument/2006/relationships" r:embed="Rc03f4db25a1647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15793-6F82-4395-B527-858C05B3E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7544" y="1543050"/>
            <a:ext cx="6552728" cy="596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F70979D-C23B-4E28-94D4-137386CB283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68313" y="2211388"/>
            <a:ext cx="6551612" cy="360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edit subtitle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bg>
      <p:bgPr>
        <a:blipFill xmlns:a="http://schemas.openxmlformats.org/drawingml/2006/main" rotWithShape="0">
          <a:blip xmlns:r="http://schemas.openxmlformats.org/officeDocument/2006/relationships" r:embed="R633d8e989ef744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DE3F69-D87E-45DD-A0AC-F245039A6B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510"/>
            <a:ext cx="7772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D9CE3C-0556-4A84-858F-73E5A7A18FD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347614"/>
            <a:ext cx="7772400" cy="2952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3_Blank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23E090-A40C-4604-9E45-3411C72C07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510"/>
            <a:ext cx="7772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58F68C-FF99-4E44-A0A5-8A692E57C5A9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347614"/>
            <a:ext cx="7772400" cy="33843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_Blank">
    <p:bg>
      <p:bgPr>
        <a:blipFill xmlns:a="http://schemas.openxmlformats.org/drawingml/2006/main" rotWithShape="0">
          <a:blip xmlns:r="http://schemas.openxmlformats.org/officeDocument/2006/relationships" r:embed="Rf20333b40dbd486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CFB5EC-0EEB-4C52-84B4-C626146C9BF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907"/>
            <a:ext cx="4535165" cy="9182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1B152E-BE9E-4826-9B4C-B5AFBA33215A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440607"/>
            <a:ext cx="4535165" cy="2715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F9920FA-F768-4F9C-89ED-923D7C9ACB8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129032" y="411510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FB68C1BE-AD26-4452-9DDC-155550FB399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6946925" y="2215474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39A1FC9-2FB3-4659-9301-45631BBF61E9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946925" y="411510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9814DF8-FEBB-45FB-9909-4A925C33789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126154" y="2221260"/>
            <a:ext cx="1657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Blank">
    <p:bg>
      <p:bgPr>
        <a:blipFill xmlns:a="http://schemas.openxmlformats.org/drawingml/2006/main" rotWithShape="0">
          <a:blip xmlns:r="http://schemas.openxmlformats.org/officeDocument/2006/relationships" r:embed="Ra31d38ef72ea424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FC279E-3C84-4E1A-99B3-5FB8B9997A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5536" y="411510"/>
            <a:ext cx="7772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Click to edit slide heading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526280-1CAC-493C-8D59-CDCCD666BBE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95536" y="1347614"/>
            <a:ext cx="7772400" cy="27420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har char="§"/>
              <a:defRPr b="0">
                <a:solidFill>
                  <a:schemeClr val="tx1"/>
                </a:solidFill>
              </a:defRPr>
            </a:lvl1pPr>
            <a:lvl2pPr>
              <a:buNone/>
              <a:defRPr b="0"/>
            </a:lvl2pPr>
            <a:lvl3pPr>
              <a:buNone/>
              <a:defRPr b="0"/>
            </a:lvl3pPr>
            <a:lvl4pPr>
              <a:buNone/>
              <a:defRPr b="0"/>
            </a:lvl4pPr>
            <a:lvl5pPr>
              <a:buNone/>
              <a:defRPr b="0"/>
            </a:lvl5pPr>
          </a:lstStyle>
          <a:p xmlns:a="http://schemas.openxmlformats.org/drawingml/2006/main">
            <a:pPr>
              <a:buNone/>
            </a:pPr>
            <a:r>
              <a:t>Click to add content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6b6182b4cc4819" /><Relationship Type="http://schemas.openxmlformats.org/officeDocument/2006/relationships/slideLayout" Target="/ppt/slideLayouts/slideLayout1.xml" Id="Rbde7d0b987ab4935" /><Relationship Type="http://schemas.openxmlformats.org/officeDocument/2006/relationships/slideLayout" Target="/ppt/slideLayouts/slideLayout2.xml" Id="R2534dbca1c7746ca" /><Relationship Type="http://schemas.openxmlformats.org/officeDocument/2006/relationships/slideLayout" Target="/ppt/slideLayouts/slideLayout3.xml" Id="Ra15f9b3a532c44b1" /><Relationship Type="http://schemas.openxmlformats.org/officeDocument/2006/relationships/slideLayout" Target="/ppt/slideLayouts/slideLayout4.xml" Id="R255596845f7449c4" /><Relationship Type="http://schemas.openxmlformats.org/officeDocument/2006/relationships/slideLayout" Target="/ppt/slideLayouts/slideLayout5.xml" Id="Rc13af715f5d146e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7d0b987ab4935"/>
    <p:sldLayoutId xmlns:r="http://schemas.openxmlformats.org/officeDocument/2006/relationships" id="2147483650" r:id="R2534dbca1c7746ca"/>
    <p:sldLayoutId xmlns:r="http://schemas.openxmlformats.org/officeDocument/2006/relationships" id="2147483651" r:id="Ra15f9b3a532c44b1"/>
    <p:sldLayoutId xmlns:r="http://schemas.openxmlformats.org/officeDocument/2006/relationships" id="2147483652" r:id="R255596845f7449c4"/>
    <p:sldLayoutId xmlns:r="http://schemas.openxmlformats.org/officeDocument/2006/relationships" id="2147483653" r:id="Rc13af715f5d146e4"/>
  </p:sldLayoutIdLst>
  <p:txStyles>
    <p:titleStyle>
      <a:lvl1pPr xmlns:a="http://schemas.openxmlformats.org/drawingml/2006/main" algn="l">
        <a:spcBef>
          <a:spcPts val="0"/>
        </a:spcBef>
        <a:spcAft>
          <a:spcPts val="0"/>
        </a:spcAft>
        <a:buNone/>
        <a:defRPr sz="3600">
          <a:solidFill>
            <a:srgbClr val="489EBD"/>
          </a:solidFill>
          <a:latin typeface="Georgia"/>
          <a:ea typeface="Georgia"/>
          <a:cs typeface="Georgia"/>
        </a:defRPr>
      </a:lvl1pPr>
      <a:lvl2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2pPr>
      <a:lvl3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3pPr>
      <a:lvl4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4pPr>
      <a:lvl5pPr xmlns:a="http://schemas.openxmlformats.org/drawingml/2006/main" algn="l">
        <a:spcBef>
          <a:spcPts val="0"/>
        </a:spcBef>
        <a:spcAft>
          <a:spcPts val="0"/>
        </a:spcAft>
        <a:buNone/>
        <a:defRPr sz="4000">
          <a:solidFill>
            <a:schemeClr val="bg1"/>
          </a:solidFill>
          <a:latin typeface="Georgia"/>
          <a:ea typeface="Georgia"/>
          <a:cs typeface="Georgia"/>
        </a:defRPr>
      </a:lvl5pPr>
      <a:lvl6pPr xmlns:a="http://schemas.openxmlformats.org/drawingml/2006/main" marL="4572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9144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13716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1828800" algn="l">
        <a:spcBef>
          <a:spcPts val="0"/>
        </a:spcBef>
        <a:spcAft>
          <a:spcPts val="0"/>
        </a:spcAft>
        <a:buNone/>
        <a:defRPr sz="4000">
          <a:solidFill>
            <a:schemeClr val="tx2"/>
          </a:solidFill>
          <a:latin typeface="Times New Roman"/>
          <a:ea typeface="Times New Roman"/>
          <a:cs typeface="Times New Roman"/>
        </a:defRPr>
      </a:lvl9pPr>
    </p:titleStyle>
    <p:bodyStyle>
      <a:lvl1pPr xmlns:a="http://schemas.openxmlformats.org/drawingml/2006/main" marL="0" indent="0" algn="l">
        <a:spcBef>
          <a:spcPts val="0"/>
        </a:spcBef>
        <a:spcAft>
          <a:spcPts val="0"/>
        </a:spcAft>
        <a:buNone/>
        <a:defRPr sz="20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0" algn="l">
        <a:spcBef>
          <a:spcPts val="0"/>
        </a:spcBef>
        <a:spcAft>
          <a:spcPts val="0"/>
        </a:spcAft>
        <a:buNone/>
        <a:defRPr sz="1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spcAft>
          <a:spcPts val="0"/>
        </a:spcAft>
        <a:buChar char="o"/>
        <a:defRPr sz="2800">
          <a:solidFill>
            <a:schemeClr val="bg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spcAft>
          <a:spcPts val="0"/>
        </a:spcAft>
        <a:buChar char="–"/>
        <a:defRPr sz="2800">
          <a:solidFill>
            <a:schemeClr val="bg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spcAft>
          <a:spcPts val="0"/>
        </a:spcAft>
        <a:buChar char="»"/>
        <a:defRPr sz="2800">
          <a:solidFill>
            <a:schemeClr val="bg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spcAft>
          <a:spcPts val="0"/>
        </a:spcAft>
        <a:buChar char="»"/>
        <a:defRPr sz="2800" b="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Default Design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164aba636453b" /><Relationship Type="http://schemas.openxmlformats.org/officeDocument/2006/relationships/notesSlide" Target="/ppt/notesSlides/notesSlide1.xml" Id="R11f3eb35701649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7614838c4f4e38" /><Relationship Type="http://schemas.openxmlformats.org/officeDocument/2006/relationships/notesSlide" Target="/ppt/notesSlides/notesSlide2.xml" Id="Rc017060e1b0f4f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72f920ce1674b2e" /><Relationship Type="http://schemas.openxmlformats.org/officeDocument/2006/relationships/notesSlide" Target="/ppt/notesSlides/notesSlide3.xml" Id="R2491abc98a2349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bf1a886aeb4bd8" /><Relationship Type="http://schemas.openxmlformats.org/officeDocument/2006/relationships/notesSlide" Target="/ppt/notesSlides/notesSlide4.xml" Id="R6cd4dc5e5d1c49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f9bb7253e34838" /><Relationship Type="http://schemas.openxmlformats.org/officeDocument/2006/relationships/notesSlide" Target="/ppt/notesSlides/notesSlide5.xml" Id="R473983f0352746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2f27708756e47ed" /><Relationship Type="http://schemas.openxmlformats.org/officeDocument/2006/relationships/notesSlide" Target="/ppt/notesSlides/notesSlide6.xml" Id="R60d0dac6bdaf4b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c3115f6480e4799" /><Relationship Type="http://schemas.openxmlformats.org/officeDocument/2006/relationships/notesSlide" Target="/ppt/notesSlides/notesSlide7.xml" Id="R3d3b140397ab44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78fd8f576e402e" /><Relationship Type="http://schemas.openxmlformats.org/officeDocument/2006/relationships/notesSlide" Target="/ppt/notesSlides/notesSlide8.xml" Id="R37faef73f57242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24aae364e74ede" /><Relationship Type="http://schemas.openxmlformats.org/officeDocument/2006/relationships/notesSlide" Target="/ppt/notesSlides/notesSlide9.xml" Id="Ra213bcd92cc74e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67b1c16aff4ac8" /><Relationship Type="http://schemas.openxmlformats.org/officeDocument/2006/relationships/chart" Target="/ppt/slides/charts/chart1.xml" Id="R376bf09f70d94259" /><Relationship Type="http://schemas.openxmlformats.org/officeDocument/2006/relationships/notesSlide" Target="/ppt/notesSlides/notesSlide10.xml" Id="R87392828106144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186179780c4357" /><Relationship Type="http://schemas.openxmlformats.org/officeDocument/2006/relationships/notesSlide" Target="/ppt/notesSlides/notesSlide11.xml" Id="Ra2f18e6be73a44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3b814d5ef447d7" /><Relationship Type="http://schemas.openxmlformats.org/officeDocument/2006/relationships/notesSlide" Target="/ppt/notesSlides/notesSlide12.xml" Id="Rc754c512a3914d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249ecfbe5644d6" /><Relationship Type="http://schemas.openxmlformats.org/officeDocument/2006/relationships/notesSlide" Target="/ppt/notesSlides/notesSlide13.xml" Id="R6ea7f90f31ab4f0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Image-only</c:v>
          </c:tx>
          <c:spPr>
            <a:solidFill xmlns:a="http://schemas.openxmlformats.org/drawingml/2006/main">
              <a:srgbClr val="8F8F8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AUC</c:v>
              </c:pt>
              <c:pt idx="1">
                <c:v>Avg precision</c:v>
              </c:pt>
              <c:pt idx="2">
                <c:v>Recall</c:v>
              </c:pt>
              <c:pt idx="3">
                <c:v>F1</c:v>
              </c:pt>
              <c:pt idx="4">
                <c:v>Balanced acc</c:v>
              </c:pt>
            </c:strLit>
          </c:cat>
          <c:val>
            <c:numLit>
              <c:formatCode>0%</c:formatCode>
              <c:ptCount val="5"/>
              <c:pt idx="0">
                <c:v>0.85499372</c:v>
              </c:pt>
              <c:pt idx="1">
                <c:v>0.12765725</c:v>
              </c:pt>
              <c:pt idx="2">
                <c:v>0.51282051</c:v>
              </c:pt>
              <c:pt idx="3">
                <c:v>0.15604681</c:v>
              </c:pt>
              <c:pt idx="4">
                <c:v>0.71092777</c:v>
              </c:pt>
            </c:numLit>
          </c:val>
        </c:ser>
        <c:ser>
          <c:idx val="1"/>
          <c:order val="1"/>
          <c:tx>
            <c:v>Multi-modal</c:v>
          </c:tx>
          <c:spPr>
            <a:solidFill xmlns:a="http://schemas.openxmlformats.org/drawingml/2006/main">
              <a:srgbClr val="7A1F1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AUC</c:v>
              </c:pt>
              <c:pt idx="1">
                <c:v>Avg precision</c:v>
              </c:pt>
              <c:pt idx="2">
                <c:v>Recall</c:v>
              </c:pt>
              <c:pt idx="3">
                <c:v>F1</c:v>
              </c:pt>
              <c:pt idx="4">
                <c:v>Balanced acc</c:v>
              </c:pt>
            </c:strLit>
          </c:cat>
          <c:val>
            <c:numLit>
              <c:formatCode>0%</c:formatCode>
              <c:ptCount val="5"/>
              <c:pt idx="0">
                <c:v>0.87419823</c:v>
              </c:pt>
              <c:pt idx="1">
                <c:v>0.1519338</c:v>
              </c:pt>
              <c:pt idx="2">
                <c:v>0.53846154</c:v>
              </c:pt>
              <c:pt idx="3">
                <c:v>0.19148936</c:v>
              </c:pt>
              <c:pt idx="4">
                <c:v>0.73250674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D4D4D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D4D4D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4D4D4D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72B4668A-4E51-422E-9E21-36DB21E3F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415" y="1491123"/>
            <a:ext cx="7230328" cy="740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>
                <a:latin typeface="Times New Roman"/>
                <a:ea typeface="Times New Roman"/>
                <a:cs typeface="Times New Roman"/>
              </a:rPr>
              <a:t>A Mobile Auxiliary Diagnosis System for Melanoma Based on Multi-Modal Fusion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D7F9254-8F6A-4151-9BD0-5CCBA332AE0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509415" y="3094031"/>
            <a:ext cx="4751759" cy="38557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Mid-term Project Presentation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Pengcheng Sun | Supervisor: Omid Pournik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3855887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FC2FE5-486A-46DD-8F36-F7B5E139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Mid-term status at a glance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6025EB4-21AA-4C93-BD28-74724D1C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E3F994-11D4-4AEC-AA4B-4257A55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summary-thesis">
            <a:extLst xmlns:a="http://schemas.openxmlformats.org/drawingml/2006/main">
              <a:ext uri="{FF2B5EF4-FFF2-40B4-BE49-F238E27FC236}">
                <a16:creationId xmlns:a16="http://schemas.microsoft.com/office/drawing/2014/main" id="{4B506581-C13C-4376-9E4C-E9B17458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Clinical metadata improves the image-only baseline, and the resulting model is integrated into a working mobile screening workflow.</a:t>
            </a:r>
          </a:p>
        </p:txBody>
      </p:sp>
      <p:sp>
        <p:nvSpPr>
          <p:cNvPr id="5" name="metric-multi-modal validation AUC&#10;+0.019 vs image-only">
            <a:extLst xmlns:a="http://schemas.openxmlformats.org/drawingml/2006/main">
              <a:ext uri="{FF2B5EF4-FFF2-40B4-BE49-F238E27FC236}">
                <a16:creationId xmlns:a16="http://schemas.microsoft.com/office/drawing/2014/main" id="{22964D62-8F3D-4CD8-B7F4-9A78352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metric-value-multi-modal validation AUC&#10;+0.019 vs image-only">
            <a:extLst xmlns:a="http://schemas.openxmlformats.org/drawingml/2006/main">
              <a:ext uri="{FF2B5EF4-FFF2-40B4-BE49-F238E27FC236}">
                <a16:creationId xmlns:a16="http://schemas.microsoft.com/office/drawing/2014/main" id="{3641D11E-9C69-423F-8C21-0A020E6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0.874</a:t>
            </a:r>
          </a:p>
        </p:txBody>
      </p:sp>
      <p:sp>
        <p:nvSpPr>
          <p:cNvPr id="7" name="metric-label-multi-modal validation AUC&#10;+0.019 vs image-only">
            <a:extLst xmlns:a="http://schemas.openxmlformats.org/drawingml/2006/main">
              <a:ext uri="{FF2B5EF4-FFF2-40B4-BE49-F238E27FC236}">
                <a16:creationId xmlns:a16="http://schemas.microsoft.com/office/drawing/2014/main" id="{D709FFC6-4BC7-4AB1-A477-26B12FF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multi-modal validation AUC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+0.019 vs image-only</a:t>
            </a:r>
          </a:p>
        </p:txBody>
      </p:sp>
      <p:sp>
        <p:nvSpPr>
          <p:cNvPr id="8" name="metric-average precision&#10;+0.024 vs image-only">
            <a:extLst xmlns:a="http://schemas.openxmlformats.org/drawingml/2006/main">
              <a:ext uri="{FF2B5EF4-FFF2-40B4-BE49-F238E27FC236}">
                <a16:creationId xmlns:a16="http://schemas.microsoft.com/office/drawing/2014/main" id="{C04753E0-F968-4C2F-8188-0C99F88E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95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metric-value-average precision&#10;+0.024 vs image-only">
            <a:extLst xmlns:a="http://schemas.openxmlformats.org/drawingml/2006/main">
              <a:ext uri="{FF2B5EF4-FFF2-40B4-BE49-F238E27FC236}">
                <a16:creationId xmlns:a16="http://schemas.microsoft.com/office/drawing/2014/main" id="{3C973621-E6FA-4641-8088-80155B5C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0.152</a:t>
            </a:r>
          </a:p>
        </p:txBody>
      </p:sp>
      <p:sp>
        <p:nvSpPr>
          <p:cNvPr id="10" name="metric-label-average precision&#10;+0.024 vs image-only">
            <a:extLst xmlns:a="http://schemas.openxmlformats.org/drawingml/2006/main">
              <a:ext uri="{FF2B5EF4-FFF2-40B4-BE49-F238E27FC236}">
                <a16:creationId xmlns:a16="http://schemas.microsoft.com/office/drawing/2014/main" id="{F3232304-7254-43DE-A477-07C8733F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527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average precision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+0.024 vs image-only</a:t>
            </a:r>
          </a:p>
        </p:txBody>
      </p:sp>
      <p:sp>
        <p:nvSpPr>
          <p:cNvPr id="11" name="metric-malignant F1&#10;+0.035 vs image-only">
            <a:extLst xmlns:a="http://schemas.openxmlformats.org/drawingml/2006/main">
              <a:ext uri="{FF2B5EF4-FFF2-40B4-BE49-F238E27FC236}">
                <a16:creationId xmlns:a16="http://schemas.microsoft.com/office/drawing/2014/main" id="{D8CE6AEC-C331-4191-94BF-EEAB8F9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metric-value-malignant F1&#10;+0.035 vs image-only">
            <a:extLst xmlns:a="http://schemas.openxmlformats.org/drawingml/2006/main">
              <a:ext uri="{FF2B5EF4-FFF2-40B4-BE49-F238E27FC236}">
                <a16:creationId xmlns:a16="http://schemas.microsoft.com/office/drawing/2014/main" id="{26DAF32B-5834-4F40-A933-689A0433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0.191</a:t>
            </a:r>
          </a:p>
        </p:txBody>
      </p:sp>
      <p:sp>
        <p:nvSpPr>
          <p:cNvPr id="13" name="metric-label-malignant F1&#10;+0.035 vs image-only">
            <a:extLst xmlns:a="http://schemas.openxmlformats.org/drawingml/2006/main">
              <a:ext uri="{FF2B5EF4-FFF2-40B4-BE49-F238E27FC236}">
                <a16:creationId xmlns:a16="http://schemas.microsoft.com/office/drawing/2014/main" id="{2663A42B-79CC-4847-9611-0025248A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527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malignant F1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+0.035 vs image-only</a:t>
            </a:r>
          </a:p>
        </p:txBody>
      </p:sp>
      <p:sp>
        <p:nvSpPr>
          <p:cNvPr id="14" name="metric-false positives&#10;114 fewer than baseline">
            <a:extLst xmlns:a="http://schemas.openxmlformats.org/drawingml/2006/main">
              <a:ext uri="{FF2B5EF4-FFF2-40B4-BE49-F238E27FC236}">
                <a16:creationId xmlns:a16="http://schemas.microsoft.com/office/drawing/2014/main" id="{C6C3F7E8-3BAD-4AF3-8A2F-8D3D725C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metric-value-false positives&#10;114 fewer than baseline">
            <a:extLst xmlns:a="http://schemas.openxmlformats.org/drawingml/2006/main">
              <a:ext uri="{FF2B5EF4-FFF2-40B4-BE49-F238E27FC236}">
                <a16:creationId xmlns:a16="http://schemas.microsoft.com/office/drawing/2014/main" id="{25549B15-BFCE-48D5-9C33-41B0D530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F6F4E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F6F4E"/>
                </a:solidFill>
                <a:latin typeface="Georgia"/>
                <a:ea typeface="Georgia"/>
                <a:cs typeface="Georgia"/>
              </a:rPr>
              <a:t>478</a:t>
            </a:r>
          </a:p>
        </p:txBody>
      </p:sp>
      <p:sp>
        <p:nvSpPr>
          <p:cNvPr id="16" name="metric-label-false positives&#10;114 fewer than baseline">
            <a:extLst xmlns:a="http://schemas.openxmlformats.org/drawingml/2006/main">
              <a:ext uri="{FF2B5EF4-FFF2-40B4-BE49-F238E27FC236}">
                <a16:creationId xmlns:a16="http://schemas.microsoft.com/office/drawing/2014/main" id="{AFC4A9A8-4EC7-47A9-9651-6CCD9AB0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false positives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114 fewer than baseline</a:t>
            </a:r>
          </a:p>
        </p:txBody>
      </p:sp>
      <p:sp>
        <p:nvSpPr>
          <p:cNvPr id="17" name="panel-Completed">
            <a:extLst xmlns:a="http://schemas.openxmlformats.org/drawingml/2006/main">
              <a:ext uri="{FF2B5EF4-FFF2-40B4-BE49-F238E27FC236}">
                <a16:creationId xmlns:a16="http://schemas.microsoft.com/office/drawing/2014/main" id="{31016D9C-533C-4F45-B8DA-D2CB6B45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head-Completed">
            <a:extLst xmlns:a="http://schemas.openxmlformats.org/drawingml/2006/main">
              <a:ext uri="{FF2B5EF4-FFF2-40B4-BE49-F238E27FC236}">
                <a16:creationId xmlns:a16="http://schemas.microsoft.com/office/drawing/2014/main" id="{0BB9DEF9-D269-439A-B257-BEDA6DA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9" name="copy-Completed">
            <a:extLst xmlns:a="http://schemas.openxmlformats.org/drawingml/2006/main">
              <a:ext uri="{FF2B5EF4-FFF2-40B4-BE49-F238E27FC236}">
                <a16:creationId xmlns:a16="http://schemas.microsoft.com/office/drawing/2014/main" id="{DD662AC6-7000-4868-BF37-6D55F66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Dataset pipeline, baseline, fusion model and formal validation outputs.</a:t>
            </a:r>
          </a:p>
        </p:txBody>
      </p:sp>
      <p:sp>
        <p:nvSpPr>
          <p:cNvPr id="20" name="panel-Integrated">
            <a:extLst xmlns:a="http://schemas.openxmlformats.org/drawingml/2006/main">
              <a:ext uri="{FF2B5EF4-FFF2-40B4-BE49-F238E27FC236}">
                <a16:creationId xmlns:a16="http://schemas.microsoft.com/office/drawing/2014/main" id="{5FF623B3-0B8D-4A49-9100-3FF515B7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head-Integrated">
            <a:extLst xmlns:a="http://schemas.openxmlformats.org/drawingml/2006/main">
              <a:ext uri="{FF2B5EF4-FFF2-40B4-BE49-F238E27FC236}">
                <a16:creationId xmlns:a16="http://schemas.microsoft.com/office/drawing/2014/main" id="{0EB69AF3-CA0C-4816-A670-00726EBD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Integrated</a:t>
            </a:r>
          </a:p>
        </p:txBody>
      </p:sp>
      <p:sp>
        <p:nvSpPr>
          <p:cNvPr id="22" name="copy-Integrated">
            <a:extLst xmlns:a="http://schemas.openxmlformats.org/drawingml/2006/main">
              <a:ext uri="{FF2B5EF4-FFF2-40B4-BE49-F238E27FC236}">
                <a16:creationId xmlns:a16="http://schemas.microsoft.com/office/drawing/2014/main" id="{15DB49B9-6F83-454E-86C6-6EC571C4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575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Authenticated FastAPI inference, Flutter result display and SQLite history.</a:t>
            </a:r>
          </a:p>
        </p:txBody>
      </p:sp>
      <p:sp>
        <p:nvSpPr>
          <p:cNvPr id="23" name="panel-Next focus">
            <a:extLst xmlns:a="http://schemas.openxmlformats.org/drawingml/2006/main">
              <a:ext uri="{FF2B5EF4-FFF2-40B4-BE49-F238E27FC236}">
                <a16:creationId xmlns:a16="http://schemas.microsoft.com/office/drawing/2014/main" id="{23DE051F-1186-4267-B8F8-926AE99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242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head-Next focus">
            <a:extLst xmlns:a="http://schemas.openxmlformats.org/drawingml/2006/main">
              <a:ext uri="{FF2B5EF4-FFF2-40B4-BE49-F238E27FC236}">
                <a16:creationId xmlns:a16="http://schemas.microsoft.com/office/drawing/2014/main" id="{5B6104FB-85BA-4169-A216-E73F0C1F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194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focus</a:t>
            </a:r>
          </a:p>
        </p:txBody>
      </p:sp>
      <p:sp>
        <p:nvSpPr>
          <p:cNvPr id="25" name="copy-Next focus">
            <a:extLst xmlns:a="http://schemas.openxmlformats.org/drawingml/2006/main">
              <a:ext uri="{FF2B5EF4-FFF2-40B4-BE49-F238E27FC236}">
                <a16:creationId xmlns:a16="http://schemas.microsoft.com/office/drawing/2014/main" id="{F5B86D82-6FC5-45E7-A7E6-1DFC6632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575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Threshold selection, stronger app testing and final dissertation evidence.</a:t>
            </a:r>
          </a:p>
        </p:txBody>
      </p:sp>
      <p:sp>
        <p:nvSpPr>
          <p:cNvPr id="2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3594ADD-5B44-4E51-BC9A-434C66C5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formal baseline and multi-modal metrics_summary.csv files; current project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940C22-2B34-422D-B40A-3F1631A7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Aim, significance and engineering context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8BA896E-FE4F-490D-B328-A2C1C8C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WHY THIS PROJECT MATTERS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AA7302-B86C-4A17-B088-4A1F1E1A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aim-copy">
            <a:extLst xmlns:a="http://schemas.openxmlformats.org/drawingml/2006/main">
              <a:ext uri="{FF2B5EF4-FFF2-40B4-BE49-F238E27FC236}">
                <a16:creationId xmlns:a16="http://schemas.microsoft.com/office/drawing/2014/main" id="{66AA4A49-9DF3-42D1-91D9-85F49CB7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76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aim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Build an AI-assisted mobile melanoma screening workflow.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Compare image-only ResNet50 with a multi-modal model using image plus age, sex and anatomical site.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Deploy the trained model through a FastAPI backend and Flutter app.</a:t>
            </a:r>
          </a:p>
        </p:txBody>
      </p:sp>
      <p:sp>
        <p:nvSpPr>
          <p:cNvPr id="5" name="metric-ISIC2020 prepared images">
            <a:extLst xmlns:a="http://schemas.openxmlformats.org/drawingml/2006/main">
              <a:ext uri="{FF2B5EF4-FFF2-40B4-BE49-F238E27FC236}">
                <a16:creationId xmlns:a16="http://schemas.microsoft.com/office/drawing/2014/main" id="{780A8353-9AF4-42BF-8AE2-1292F2E5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3525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metric-value-ISIC2020 prepared images">
            <a:extLst xmlns:a="http://schemas.openxmlformats.org/drawingml/2006/main">
              <a:ext uri="{FF2B5EF4-FFF2-40B4-BE49-F238E27FC236}">
                <a16:creationId xmlns:a16="http://schemas.microsoft.com/office/drawing/2014/main" id="{62A380FE-063F-487E-A703-2E52FB6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668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33,126</a:t>
            </a:r>
          </a:p>
        </p:txBody>
      </p:sp>
      <p:sp>
        <p:nvSpPr>
          <p:cNvPr id="7" name="metric-label-ISIC2020 prepared images">
            <a:extLst xmlns:a="http://schemas.openxmlformats.org/drawingml/2006/main">
              <a:ext uri="{FF2B5EF4-FFF2-40B4-BE49-F238E27FC236}">
                <a16:creationId xmlns:a16="http://schemas.microsoft.com/office/drawing/2014/main" id="{C68DA974-1945-41CA-83CE-5D709920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ISIC2020 prepared images</a:t>
            </a:r>
          </a:p>
        </p:txBody>
      </p:sp>
      <p:sp>
        <p:nvSpPr>
          <p:cNvPr id="8" name="metric-malignant cases in prepared data">
            <a:extLst xmlns:a="http://schemas.openxmlformats.org/drawingml/2006/main">
              <a:ext uri="{FF2B5EF4-FFF2-40B4-BE49-F238E27FC236}">
                <a16:creationId xmlns:a16="http://schemas.microsoft.com/office/drawing/2014/main" id="{39B5D8F3-A29A-49CD-8DBD-DD5E0528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525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metric-value-malignant cases in prepared data">
            <a:extLst xmlns:a="http://schemas.openxmlformats.org/drawingml/2006/main">
              <a:ext uri="{FF2B5EF4-FFF2-40B4-BE49-F238E27FC236}">
                <a16:creationId xmlns:a16="http://schemas.microsoft.com/office/drawing/2014/main" id="{0BD81542-E028-4316-8855-2E95D54E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668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584</a:t>
            </a:r>
          </a:p>
        </p:txBody>
      </p:sp>
      <p:sp>
        <p:nvSpPr>
          <p:cNvPr id="10" name="metric-label-malignant cases in prepared data">
            <a:extLst xmlns:a="http://schemas.openxmlformats.org/drawingml/2006/main">
              <a:ext uri="{FF2B5EF4-FFF2-40B4-BE49-F238E27FC236}">
                <a16:creationId xmlns:a16="http://schemas.microsoft.com/office/drawing/2014/main" id="{3648F1A2-CE88-4BE5-867E-D1011C9B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malignant cases in prepared data</a:t>
            </a:r>
          </a:p>
        </p:txBody>
      </p:sp>
      <p:sp>
        <p:nvSpPr>
          <p:cNvPr id="11" name="panel-Problem">
            <a:extLst xmlns:a="http://schemas.openxmlformats.org/drawingml/2006/main">
              <a:ext uri="{FF2B5EF4-FFF2-40B4-BE49-F238E27FC236}">
                <a16:creationId xmlns:a16="http://schemas.microsoft.com/office/drawing/2014/main" id="{AE403AB8-68C3-4AB5-87D9-231F85F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33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head-Problem">
            <a:extLst xmlns:a="http://schemas.openxmlformats.org/drawingml/2006/main">
              <a:ext uri="{FF2B5EF4-FFF2-40B4-BE49-F238E27FC236}">
                <a16:creationId xmlns:a16="http://schemas.microsoft.com/office/drawing/2014/main" id="{AE9A7AF4-4130-451F-A6F7-0EC9C7D1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3" name="copy-Problem">
            <a:extLst xmlns:a="http://schemas.openxmlformats.org/drawingml/2006/main">
              <a:ext uri="{FF2B5EF4-FFF2-40B4-BE49-F238E27FC236}">
                <a16:creationId xmlns:a16="http://schemas.microsoft.com/office/drawing/2014/main" id="{A88A9D9D-4314-4D0C-99F1-E4344528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105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Melanoma is rare in the dataset but clinically high impact. This makes accuracy alone unsafe as a headline metric.</a:t>
            </a:r>
          </a:p>
        </p:txBody>
      </p:sp>
      <p:sp>
        <p:nvSpPr>
          <p:cNvPr id="14" name="panel-Engineering need">
            <a:extLst xmlns:a="http://schemas.openxmlformats.org/drawingml/2006/main">
              <a:ext uri="{FF2B5EF4-FFF2-40B4-BE49-F238E27FC236}">
                <a16:creationId xmlns:a16="http://schemas.microsoft.com/office/drawing/2014/main" id="{64AA5ECE-CB39-4F7B-A224-977FFE5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233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head-Engineering need">
            <a:extLst xmlns:a="http://schemas.openxmlformats.org/drawingml/2006/main">
              <a:ext uri="{FF2B5EF4-FFF2-40B4-BE49-F238E27FC236}">
                <a16:creationId xmlns:a16="http://schemas.microsoft.com/office/drawing/2014/main" id="{5636B4BA-D1CC-4D96-BF39-BDA24AE4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98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Engineering need</a:t>
            </a:r>
          </a:p>
        </p:txBody>
      </p:sp>
      <p:sp>
        <p:nvSpPr>
          <p:cNvPr id="16" name="copy-Engineering need">
            <a:extLst xmlns:a="http://schemas.openxmlformats.org/drawingml/2006/main">
              <a:ext uri="{FF2B5EF4-FFF2-40B4-BE49-F238E27FC236}">
                <a16:creationId xmlns:a16="http://schemas.microsoft.com/office/drawing/2014/main" id="{35BD511F-9616-4E6E-BF01-4799B19A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0"/>
            <a:ext cx="2105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 model result must be connected to usable software: image input, clinical metadata, authenticated API calls and saved history.</a:t>
            </a:r>
          </a:p>
        </p:txBody>
      </p:sp>
      <p:sp>
        <p:nvSpPr>
          <p:cNvPr id="17" name="panel-Intended outcome">
            <a:extLst xmlns:a="http://schemas.openxmlformats.org/drawingml/2006/main">
              <a:ext uri="{FF2B5EF4-FFF2-40B4-BE49-F238E27FC236}">
                <a16:creationId xmlns:a16="http://schemas.microsoft.com/office/drawing/2014/main" id="{0A1C3263-BBE6-4EE9-871E-5C67E7AF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233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head-Intended outcome">
            <a:extLst xmlns:a="http://schemas.openxmlformats.org/drawingml/2006/main">
              <a:ext uri="{FF2B5EF4-FFF2-40B4-BE49-F238E27FC236}">
                <a16:creationId xmlns:a16="http://schemas.microsoft.com/office/drawing/2014/main" id="{C0E3B814-93E4-4A9B-ABD9-97E83442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98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Intended outcome</a:t>
            </a:r>
          </a:p>
        </p:txBody>
      </p:sp>
      <p:sp>
        <p:nvSpPr>
          <p:cNvPr id="19" name="copy-Intended outcome">
            <a:extLst xmlns:a="http://schemas.openxmlformats.org/drawingml/2006/main">
              <a:ext uri="{FF2B5EF4-FFF2-40B4-BE49-F238E27FC236}">
                <a16:creationId xmlns:a16="http://schemas.microsoft.com/office/drawing/2014/main" id="{27955264-26FA-48D9-AE26-B39A1AB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105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 traceable prototype that supports screening discussion, not an autonomous medical diagnosis.</a:t>
            </a:r>
          </a:p>
        </p:txBody>
      </p:sp>
      <p:sp>
        <p:nvSpPr>
          <p:cNvPr id="2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D5349F0-8BDB-4EE9-9451-717D9808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Sources: Project log-book; ISIC2020 prepared dataset summary.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4DC827-6E3D-415B-AA87-0883281E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Previous work informs the design choice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D81F96E-CC88-4525-9DF5-4D8202C4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LITERATURE AND RATIONALE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C54DE9-025B-48E0-B3E6-8A89DA8F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panel-Skin lesion CNNs">
            <a:extLst xmlns:a="http://schemas.openxmlformats.org/drawingml/2006/main">
              <a:ext uri="{FF2B5EF4-FFF2-40B4-BE49-F238E27FC236}">
                <a16:creationId xmlns:a16="http://schemas.microsoft.com/office/drawing/2014/main" id="{342378E7-3520-4594-87AE-EE60C6D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190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head-Skin lesion CNNs">
            <a:extLst xmlns:a="http://schemas.openxmlformats.org/drawingml/2006/main">
              <a:ext uri="{FF2B5EF4-FFF2-40B4-BE49-F238E27FC236}">
                <a16:creationId xmlns:a16="http://schemas.microsoft.com/office/drawing/2014/main" id="{8EB992C9-9CC6-4C7E-BD99-462858D3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Skin lesion CNNs</a:t>
            </a:r>
          </a:p>
        </p:txBody>
      </p:sp>
      <p:sp>
        <p:nvSpPr>
          <p:cNvPr id="6" name="copy-Skin lesion CNNs">
            <a:extLst xmlns:a="http://schemas.openxmlformats.org/drawingml/2006/main">
              <a:ext uri="{FF2B5EF4-FFF2-40B4-BE49-F238E27FC236}">
                <a16:creationId xmlns:a16="http://schemas.microsoft.com/office/drawing/2014/main" id="{302F5609-5427-495B-9932-E0D468C4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1962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Prior work shows CNNs can classify skin lesions from images, but clinical deployment requires careful framing and validation.</a:t>
            </a:r>
          </a:p>
        </p:txBody>
      </p:sp>
      <p:sp>
        <p:nvSpPr>
          <p:cNvPr id="7" name="panel-ResNet50 baseline">
            <a:extLst xmlns:a="http://schemas.openxmlformats.org/drawingml/2006/main">
              <a:ext uri="{FF2B5EF4-FFF2-40B4-BE49-F238E27FC236}">
                <a16:creationId xmlns:a16="http://schemas.microsoft.com/office/drawing/2014/main" id="{0359CF54-DC6A-4474-9D3B-97BCEA8E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14450"/>
            <a:ext cx="2190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head-ResNet50 baseline">
            <a:extLst xmlns:a="http://schemas.openxmlformats.org/drawingml/2006/main">
              <a:ext uri="{FF2B5EF4-FFF2-40B4-BE49-F238E27FC236}">
                <a16:creationId xmlns:a16="http://schemas.microsoft.com/office/drawing/2014/main" id="{E11500B3-C58A-43E5-8E1F-06D17CC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409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ResNet50 baseline</a:t>
            </a:r>
          </a:p>
        </p:txBody>
      </p:sp>
      <p:sp>
        <p:nvSpPr>
          <p:cNvPr id="9" name="copy-ResNet50 baseline">
            <a:extLst xmlns:a="http://schemas.openxmlformats.org/drawingml/2006/main">
              <a:ext uri="{FF2B5EF4-FFF2-40B4-BE49-F238E27FC236}">
                <a16:creationId xmlns:a16="http://schemas.microsoft.com/office/drawing/2014/main" id="{99CDFD9C-4DD3-4917-B30C-08D9A301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647825"/>
            <a:ext cx="1962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Residual learning provides a stable pretrained image backbone. It is used here as the image-only comparator.</a:t>
            </a:r>
          </a:p>
        </p:txBody>
      </p:sp>
      <p:sp>
        <p:nvSpPr>
          <p:cNvPr id="10" name="panel-ISIC2020 dataset">
            <a:extLst xmlns:a="http://schemas.openxmlformats.org/drawingml/2006/main">
              <a:ext uri="{FF2B5EF4-FFF2-40B4-BE49-F238E27FC236}">
                <a16:creationId xmlns:a16="http://schemas.microsoft.com/office/drawing/2014/main" id="{7DDC72B5-30A5-49F2-A4B2-28265608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14450"/>
            <a:ext cx="2190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head-ISIC2020 dataset">
            <a:extLst xmlns:a="http://schemas.openxmlformats.org/drawingml/2006/main">
              <a:ext uri="{FF2B5EF4-FFF2-40B4-BE49-F238E27FC236}">
                <a16:creationId xmlns:a16="http://schemas.microsoft.com/office/drawing/2014/main" id="{D14FB7C3-FFC8-409E-8314-5554A512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09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ISIC2020 dataset</a:t>
            </a:r>
          </a:p>
        </p:txBody>
      </p:sp>
      <p:sp>
        <p:nvSpPr>
          <p:cNvPr id="12" name="copy-ISIC2020 dataset">
            <a:extLst xmlns:a="http://schemas.openxmlformats.org/drawingml/2006/main">
              <a:ext uri="{FF2B5EF4-FFF2-40B4-BE49-F238E27FC236}">
                <a16:creationId xmlns:a16="http://schemas.microsoft.com/office/drawing/2014/main" id="{CCF48475-BFE3-49CF-9569-C7554986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47825"/>
            <a:ext cx="1962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ISIC2020 provides dermoscopic images with metadata fields that match the multi-modal research question.</a:t>
            </a:r>
          </a:p>
        </p:txBody>
      </p:sp>
      <p:sp>
        <p:nvSpPr>
          <p:cNvPr id="13" name="rationale">
            <a:extLst xmlns:a="http://schemas.openxmlformats.org/drawingml/2006/main">
              <a:ext uri="{FF2B5EF4-FFF2-40B4-BE49-F238E27FC236}">
                <a16:creationId xmlns:a16="http://schemas.microsoft.com/office/drawing/2014/main" id="{80EF7D90-7343-414B-B6D6-4CE68990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700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implication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Use image-only ResNet50 first, then add a compact clinical MLP branch.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Compare both models on the same validation split.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Report AUC, average precision, recall, F1 and balanced accuracy because class imbalance is severe.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B2B5561-8C3E-4D94-894E-FE4983FF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References: He et al. 2016; Esteva et al. 2017; ISIC Challenge Datasets; SIIM-ISIC 2020 challenge article.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B90AC1-4AD9-464D-A1E8-05271570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Requirements, stakeholders and constraints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58D65F5-8E59-4673-8948-FEB3EF3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PROBLEM BOUNDARIES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173338-DDB0-48B7-9080-6F5E1FD1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3714750" cy="1638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57375"/>
                <a:gridCol w="1857375"/>
              </a:tblGrid>
              <a:tr h="32766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Stakeholder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Need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Student/researcher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 defensible model comparison and working prototype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Potential user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Clear upload, metadata input and understandable result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Clinician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Result framed as auxiliary risk signal, not diagnosis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Supervisor/assessor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Evidence of engineering decisions and validation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4629150" y="1314450"/>
          <a:ext xmlns:a="http://schemas.openxmlformats.org/drawingml/2006/main" cx="3333750" cy="1638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666875"/>
              </a:tblGrid>
              <a:tr h="32766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Constraint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Design response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Medical 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Disclaimer and screening language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Class imbalance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Melanoma-focused metrics and confusion matrix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Missing metadata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Unknown categories and default values</a:t>
                      </a:r>
                    </a:p>
                  </a:txBody>
                  <a:tcPr marL="91440" marR="91440" marT="45720" marB="45720"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Reproducibility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Saved CSV metrics, predictions and training history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panel-Legal and societal position">
            <a:extLst xmlns:a="http://schemas.openxmlformats.org/drawingml/2006/main">
              <a:ext uri="{FF2B5EF4-FFF2-40B4-BE49-F238E27FC236}">
                <a16:creationId xmlns:a16="http://schemas.microsoft.com/office/drawing/2014/main" id="{5DDC47A1-F305-447A-BE3D-3D99800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head-Legal and societal position">
            <a:extLst xmlns:a="http://schemas.openxmlformats.org/drawingml/2006/main">
              <a:ext uri="{FF2B5EF4-FFF2-40B4-BE49-F238E27FC236}">
                <a16:creationId xmlns:a16="http://schemas.microsoft.com/office/drawing/2014/main" id="{E4D31F36-6D96-4AEB-99CA-5255B423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248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and societal position</a:t>
            </a:r>
          </a:p>
        </p:txBody>
      </p:sp>
      <p:sp>
        <p:nvSpPr>
          <p:cNvPr id="8" name="copy-Legal and societal position">
            <a:extLst xmlns:a="http://schemas.openxmlformats.org/drawingml/2006/main">
              <a:ext uri="{FF2B5EF4-FFF2-40B4-BE49-F238E27FC236}">
                <a16:creationId xmlns:a16="http://schemas.microsoft.com/office/drawing/2014/main" id="{42EE08B2-885E-42E0-9826-489D5B87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248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application prototype stores local demo account/history data and must not be presented as replacing professional medical diagnosis.</a:t>
            </a:r>
          </a:p>
        </p:txBody>
      </p:sp>
      <p:sp>
        <p:nvSpPr>
          <p:cNvPr id="9" name="panel-Engineering success condition">
            <a:extLst xmlns:a="http://schemas.openxmlformats.org/drawingml/2006/main">
              <a:ext uri="{FF2B5EF4-FFF2-40B4-BE49-F238E27FC236}">
                <a16:creationId xmlns:a16="http://schemas.microsoft.com/office/drawing/2014/main" id="{EA238C16-475D-4129-8A33-6012A3BC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head-Engineering success condition">
            <a:extLst xmlns:a="http://schemas.openxmlformats.org/drawingml/2006/main">
              <a:ext uri="{FF2B5EF4-FFF2-40B4-BE49-F238E27FC236}">
                <a16:creationId xmlns:a16="http://schemas.microsoft.com/office/drawing/2014/main" id="{B1485758-66D4-4495-9484-CD3C7E00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33750"/>
            <a:ext cx="3248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Engineering success condition</a:t>
            </a:r>
          </a:p>
        </p:txBody>
      </p:sp>
      <p:sp>
        <p:nvSpPr>
          <p:cNvPr id="11" name="copy-Engineering success condition">
            <a:extLst xmlns:a="http://schemas.openxmlformats.org/drawingml/2006/main">
              <a:ext uri="{FF2B5EF4-FFF2-40B4-BE49-F238E27FC236}">
                <a16:creationId xmlns:a16="http://schemas.microsoft.com/office/drawing/2014/main" id="{27784DD8-97C2-47D0-BA7D-074DF815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71875"/>
            <a:ext cx="3248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model, backend and mobile app must agree on preprocessing, metadata encoding and prediction semantics.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8F6F35-06DB-4E1D-8A06-F0A96046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Integrated application data flow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D74FA40-78FB-4A81-9E62-D768AACC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15E9F4-F25D-4B04-845E-62BF4471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request-flow-label">
            <a:extLst xmlns:a="http://schemas.openxmlformats.org/drawingml/2006/main">
              <a:ext uri="{FF2B5EF4-FFF2-40B4-BE49-F238E27FC236}">
                <a16:creationId xmlns:a16="http://schemas.microsoft.com/office/drawing/2014/main" id="{C322F3FA-B787-45ED-988F-26F15728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1. Prediction request flow</a:t>
            </a:r>
          </a:p>
        </p:txBody>
      </p:sp>
      <p:sp>
        <p:nvSpPr>
          <p:cNvPr id="5" name="process-User inputs">
            <a:extLst xmlns:a="http://schemas.openxmlformats.org/drawingml/2006/main">
              <a:ext uri="{FF2B5EF4-FFF2-40B4-BE49-F238E27FC236}">
                <a16:creationId xmlns:a16="http://schemas.microsoft.com/office/drawing/2014/main" id="{454FA4C6-F704-459A-995E-DF00A83B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process-title-User inputs">
            <a:extLst xmlns:a="http://schemas.openxmlformats.org/drawingml/2006/main">
              <a:ext uri="{FF2B5EF4-FFF2-40B4-BE49-F238E27FC236}">
                <a16:creationId xmlns:a16="http://schemas.microsoft.com/office/drawing/2014/main" id="{88D50625-7CD7-416C-A70D-9089C223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 inputs</a:t>
            </a:r>
          </a:p>
        </p:txBody>
      </p:sp>
      <p:sp>
        <p:nvSpPr>
          <p:cNvPr id="7" name="process-copy-User inputs">
            <a:extLst xmlns:a="http://schemas.openxmlformats.org/drawingml/2006/main">
              <a:ext uri="{FF2B5EF4-FFF2-40B4-BE49-F238E27FC236}">
                <a16:creationId xmlns:a16="http://schemas.microsoft.com/office/drawing/2014/main" id="{2135CA9A-E9CF-4C97-A856-D334ADBD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lesion image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age, sex, site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4A379AEF-56D6-40E4-B47F-FF2AA5B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9" name="process-Flutter form">
            <a:extLst xmlns:a="http://schemas.openxmlformats.org/drawingml/2006/main">
              <a:ext uri="{FF2B5EF4-FFF2-40B4-BE49-F238E27FC236}">
                <a16:creationId xmlns:a16="http://schemas.microsoft.com/office/drawing/2014/main" id="{4039CB9A-909A-4FB2-8D07-4E882B8A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process-title-Flutter form">
            <a:extLst xmlns:a="http://schemas.openxmlformats.org/drawingml/2006/main">
              <a:ext uri="{FF2B5EF4-FFF2-40B4-BE49-F238E27FC236}">
                <a16:creationId xmlns:a16="http://schemas.microsoft.com/office/drawing/2014/main" id="{6FDD059B-1845-424D-8A39-BE6EBCFB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Flutter form</a:t>
            </a:r>
          </a:p>
        </p:txBody>
      </p:sp>
      <p:sp>
        <p:nvSpPr>
          <p:cNvPr id="11" name="process-copy-Flutter form">
            <a:extLst xmlns:a="http://schemas.openxmlformats.org/drawingml/2006/main">
              <a:ext uri="{FF2B5EF4-FFF2-40B4-BE49-F238E27FC236}">
                <a16:creationId xmlns:a16="http://schemas.microsoft.com/office/drawing/2014/main" id="{46E64583-23B8-4AAB-A84C-39EB191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select/capture image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validate fields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E173EF8B-58EC-4B22-A82B-CEF67EDA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3" name="process-POST /predict">
            <a:extLst xmlns:a="http://schemas.openxmlformats.org/drawingml/2006/main">
              <a:ext uri="{FF2B5EF4-FFF2-40B4-BE49-F238E27FC236}">
                <a16:creationId xmlns:a16="http://schemas.microsoft.com/office/drawing/2014/main" id="{C83B5B8B-D64F-4F92-A923-D9C94E5B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process-title-POST /predict">
            <a:extLst xmlns:a="http://schemas.openxmlformats.org/drawingml/2006/main">
              <a:ext uri="{FF2B5EF4-FFF2-40B4-BE49-F238E27FC236}">
                <a16:creationId xmlns:a16="http://schemas.microsoft.com/office/drawing/2014/main" id="{6A62B577-673C-4ABC-ACE6-CB593C4E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 /predict</a:t>
            </a:r>
          </a:p>
        </p:txBody>
      </p:sp>
      <p:sp>
        <p:nvSpPr>
          <p:cNvPr id="15" name="process-copy-POST /predict">
            <a:extLst xmlns:a="http://schemas.openxmlformats.org/drawingml/2006/main">
              <a:ext uri="{FF2B5EF4-FFF2-40B4-BE49-F238E27FC236}">
                <a16:creationId xmlns:a16="http://schemas.microsoft.com/office/drawing/2014/main" id="{3DC12429-C03B-41DE-957C-E0D9C4F0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multipart form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Bearer JWT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35BED633-9057-4FDA-8D8C-9CCCBCB4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7" name="process-FastAPI">
            <a:extLst xmlns:a="http://schemas.openxmlformats.org/drawingml/2006/main">
              <a:ext uri="{FF2B5EF4-FFF2-40B4-BE49-F238E27FC236}">
                <a16:creationId xmlns:a16="http://schemas.microsoft.com/office/drawing/2014/main" id="{87F7B946-8F04-43F0-B057-B62F56D7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process-title-FastAPI">
            <a:extLst xmlns:a="http://schemas.openxmlformats.org/drawingml/2006/main">
              <a:ext uri="{FF2B5EF4-FFF2-40B4-BE49-F238E27FC236}">
                <a16:creationId xmlns:a16="http://schemas.microsoft.com/office/drawing/2014/main" id="{4A536071-E252-49A4-9B1D-A32AD8B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9" name="process-copy-FastAPI">
            <a:extLst xmlns:a="http://schemas.openxmlformats.org/drawingml/2006/main">
              <a:ext uri="{FF2B5EF4-FFF2-40B4-BE49-F238E27FC236}">
                <a16:creationId xmlns:a16="http://schemas.microsoft.com/office/drawing/2014/main" id="{FEE29067-BD0E-4E16-8F5D-D7D16289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authenticate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decode image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EF416347-6931-44D8-ADB3-BD1895E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21" name="process-Inference">
            <a:extLst xmlns:a="http://schemas.openxmlformats.org/drawingml/2006/main">
              <a:ext uri="{FF2B5EF4-FFF2-40B4-BE49-F238E27FC236}">
                <a16:creationId xmlns:a16="http://schemas.microsoft.com/office/drawing/2014/main" id="{2FCC79E4-2584-4A91-8D18-55C2A400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process-title-Inference">
            <a:extLst xmlns:a="http://schemas.openxmlformats.org/drawingml/2006/main">
              <a:ext uri="{FF2B5EF4-FFF2-40B4-BE49-F238E27FC236}">
                <a16:creationId xmlns:a16="http://schemas.microsoft.com/office/drawing/2014/main" id="{6053B7F2-1E48-4678-A580-43E592CD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90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3" name="process-copy-Inference">
            <a:extLst xmlns:a="http://schemas.openxmlformats.org/drawingml/2006/main">
              <a:ext uri="{FF2B5EF4-FFF2-40B4-BE49-F238E27FC236}">
                <a16:creationId xmlns:a16="http://schemas.microsoft.com/office/drawing/2014/main" id="{5F4C3BF2-5690-4485-8339-65C2480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preprocess -&gt; fusion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model -&gt; top-k</a:t>
            </a:r>
          </a:p>
        </p:txBody>
      </p:sp>
      <p:sp>
        <p:nvSpPr>
          <p:cNvPr id="24" name="response-flow-label">
            <a:extLst xmlns:a="http://schemas.openxmlformats.org/drawingml/2006/main">
              <a:ext uri="{FF2B5EF4-FFF2-40B4-BE49-F238E27FC236}">
                <a16:creationId xmlns:a16="http://schemas.microsoft.com/office/drawing/2014/main" id="{A72D2A76-787C-4E44-B3C6-F6661945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2. Output branches</a:t>
            </a:r>
          </a:p>
        </p:txBody>
      </p:sp>
      <p:sp>
        <p:nvSpPr>
          <p:cNvPr id="25" name="response-branch-label">
            <a:extLst xmlns:a="http://schemas.openxmlformats.org/drawingml/2006/main">
              <a:ext uri="{FF2B5EF4-FFF2-40B4-BE49-F238E27FC236}">
                <a16:creationId xmlns:a16="http://schemas.microsoft.com/office/drawing/2014/main" id="{E453088A-4CCF-40C6-80A9-44934AE1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7A1F1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7A1F1F"/>
                </a:solidFill>
                <a:latin typeface="Arial"/>
                <a:ea typeface="Arial"/>
                <a:cs typeface="Arial"/>
              </a:rPr>
              <a:t>Response branch</a:t>
            </a:r>
          </a:p>
        </p:txBody>
      </p:sp>
      <p:sp>
        <p:nvSpPr>
          <p:cNvPr id="26" name="persistence-branch-label">
            <a:extLst xmlns:a="http://schemas.openxmlformats.org/drawingml/2006/main">
              <a:ext uri="{FF2B5EF4-FFF2-40B4-BE49-F238E27FC236}">
                <a16:creationId xmlns:a16="http://schemas.microsoft.com/office/drawing/2014/main" id="{9C569778-D908-4584-9F19-1C5F1935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7A1F1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7A1F1F"/>
                </a:solidFill>
                <a:latin typeface="Arial"/>
                <a:ea typeface="Arial"/>
                <a:cs typeface="Arial"/>
              </a:rPr>
              <a:t>Persistence and retrieval branch</a:t>
            </a:r>
          </a:p>
        </p:txBody>
      </p:sp>
      <p:sp>
        <p:nvSpPr>
          <p:cNvPr id="27" name="process-Prediction JSON">
            <a:extLst xmlns:a="http://schemas.openxmlformats.org/drawingml/2006/main">
              <a:ext uri="{FF2B5EF4-FFF2-40B4-BE49-F238E27FC236}">
                <a16:creationId xmlns:a16="http://schemas.microsoft.com/office/drawing/2014/main" id="{68FEA716-E51F-462E-AECF-A8CD8182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8" name="process-title-Prediction JSON">
            <a:extLst xmlns:a="http://schemas.openxmlformats.org/drawingml/2006/main">
              <a:ext uri="{FF2B5EF4-FFF2-40B4-BE49-F238E27FC236}">
                <a16:creationId xmlns:a16="http://schemas.microsoft.com/office/drawing/2014/main" id="{79CF02DA-2052-41ED-B100-268E3823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Prediction JSON</a:t>
            </a:r>
          </a:p>
        </p:txBody>
      </p:sp>
      <p:sp>
        <p:nvSpPr>
          <p:cNvPr id="29" name="process-copy-Prediction JSON">
            <a:extLst xmlns:a="http://schemas.openxmlformats.org/drawingml/2006/main">
              <a:ext uri="{FF2B5EF4-FFF2-40B4-BE49-F238E27FC236}">
                <a16:creationId xmlns:a16="http://schemas.microsoft.com/office/drawing/2014/main" id="{54F6AE5D-FCA6-49FA-B87B-8F12EDA6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label, confidence,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top-k, disclaimer</a:t>
            </a:r>
          </a:p>
        </p:txBody>
      </p:sp>
      <p:sp>
        <p:nvSpPr>
          <p:cNvPr id="30" name="arrow">
            <a:extLst xmlns:a="http://schemas.openxmlformats.org/drawingml/2006/main">
              <a:ext uri="{FF2B5EF4-FFF2-40B4-BE49-F238E27FC236}">
                <a16:creationId xmlns:a16="http://schemas.microsoft.com/office/drawing/2014/main" id="{660E1907-2E45-4633-99D3-567D198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0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31" name="process-Result screen">
            <a:extLst xmlns:a="http://schemas.openxmlformats.org/drawingml/2006/main">
              <a:ext uri="{FF2B5EF4-FFF2-40B4-BE49-F238E27FC236}">
                <a16:creationId xmlns:a16="http://schemas.microsoft.com/office/drawing/2014/main" id="{A416FD2C-F90D-4EEA-AFD3-F1634D9A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2" name="process-title-Result screen">
            <a:extLst xmlns:a="http://schemas.openxmlformats.org/drawingml/2006/main">
              <a:ext uri="{FF2B5EF4-FFF2-40B4-BE49-F238E27FC236}">
                <a16:creationId xmlns:a16="http://schemas.microsoft.com/office/drawing/2014/main" id="{F783D10B-B5B6-4241-8199-B51A8377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 screen</a:t>
            </a:r>
          </a:p>
        </p:txBody>
      </p:sp>
      <p:sp>
        <p:nvSpPr>
          <p:cNvPr id="33" name="process-copy-Result screen">
            <a:extLst xmlns:a="http://schemas.openxmlformats.org/drawingml/2006/main">
              <a:ext uri="{FF2B5EF4-FFF2-40B4-BE49-F238E27FC236}">
                <a16:creationId xmlns:a16="http://schemas.microsoft.com/office/drawing/2014/main" id="{4D0C175D-6C1A-43A6-9548-D3AF6067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Flutter displays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screening output</a:t>
            </a:r>
          </a:p>
        </p:txBody>
      </p:sp>
      <p:sp>
        <p:nvSpPr>
          <p:cNvPr id="34" name="process-History write">
            <a:extLst xmlns:a="http://schemas.openxmlformats.org/drawingml/2006/main">
              <a:ext uri="{FF2B5EF4-FFF2-40B4-BE49-F238E27FC236}">
                <a16:creationId xmlns:a16="http://schemas.microsoft.com/office/drawing/2014/main" id="{752D8411-8359-41CA-8248-BC4AF844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process-title-History write">
            <a:extLst xmlns:a="http://schemas.openxmlformats.org/drawingml/2006/main">
              <a:ext uri="{FF2B5EF4-FFF2-40B4-BE49-F238E27FC236}">
                <a16:creationId xmlns:a16="http://schemas.microsoft.com/office/drawing/2014/main" id="{4F92786E-EE4D-4930-A854-763ECB65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 write</a:t>
            </a:r>
          </a:p>
        </p:txBody>
      </p:sp>
      <p:sp>
        <p:nvSpPr>
          <p:cNvPr id="36" name="process-copy-History write">
            <a:extLst xmlns:a="http://schemas.openxmlformats.org/drawingml/2006/main">
              <a:ext uri="{FF2B5EF4-FFF2-40B4-BE49-F238E27FC236}">
                <a16:creationId xmlns:a16="http://schemas.microsoft.com/office/drawing/2014/main" id="{C26C50B8-0B17-4A9D-B137-F0F0AAAB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user ID + inputs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prediction record</a:t>
            </a:r>
          </a:p>
        </p:txBody>
      </p:sp>
      <p:sp>
        <p:nvSpPr>
          <p:cNvPr id="37" name="arrow">
            <a:extLst xmlns:a="http://schemas.openxmlformats.org/drawingml/2006/main">
              <a:ext uri="{FF2B5EF4-FFF2-40B4-BE49-F238E27FC236}">
                <a16:creationId xmlns:a16="http://schemas.microsoft.com/office/drawing/2014/main" id="{D87A63EE-8CB8-43F3-A643-4040344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0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38" name="process-SQLite">
            <a:extLst xmlns:a="http://schemas.openxmlformats.org/drawingml/2006/main">
              <a:ext uri="{FF2B5EF4-FFF2-40B4-BE49-F238E27FC236}">
                <a16:creationId xmlns:a16="http://schemas.microsoft.com/office/drawing/2014/main" id="{7FF64B4D-6308-48BC-8335-2FBF3FF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process-title-SQLite">
            <a:extLst xmlns:a="http://schemas.openxmlformats.org/drawingml/2006/main">
              <a:ext uri="{FF2B5EF4-FFF2-40B4-BE49-F238E27FC236}">
                <a16:creationId xmlns:a16="http://schemas.microsoft.com/office/drawing/2014/main" id="{EC7E3937-AC35-461F-BFDE-36FD979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40" name="process-copy-SQLite">
            <a:extLst xmlns:a="http://schemas.openxmlformats.org/drawingml/2006/main">
              <a:ext uri="{FF2B5EF4-FFF2-40B4-BE49-F238E27FC236}">
                <a16:creationId xmlns:a16="http://schemas.microsoft.com/office/drawing/2014/main" id="{8E8BDA39-73F8-48F3-B41E-57017D05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prediction_history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41" name="arrow">
            <a:extLst xmlns:a="http://schemas.openxmlformats.org/drawingml/2006/main">
              <a:ext uri="{FF2B5EF4-FFF2-40B4-BE49-F238E27FC236}">
                <a16:creationId xmlns:a16="http://schemas.microsoft.com/office/drawing/2014/main" id="{D462D5DF-B693-4794-91D1-08FDFFEB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0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42" name="process-History screen">
            <a:extLst xmlns:a="http://schemas.openxmlformats.org/drawingml/2006/main">
              <a:ext uri="{FF2B5EF4-FFF2-40B4-BE49-F238E27FC236}">
                <a16:creationId xmlns:a16="http://schemas.microsoft.com/office/drawing/2014/main" id="{F5857DAB-C7C5-43F1-8ECA-9FD97A41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119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3" name="process-title-History screen">
            <a:extLst xmlns:a="http://schemas.openxmlformats.org/drawingml/2006/main">
              <a:ext uri="{FF2B5EF4-FFF2-40B4-BE49-F238E27FC236}">
                <a16:creationId xmlns:a16="http://schemas.microsoft.com/office/drawing/2014/main" id="{452D9ED9-EC08-4599-B336-938E48F4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86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 screen</a:t>
            </a:r>
          </a:p>
        </p:txBody>
      </p:sp>
      <p:sp>
        <p:nvSpPr>
          <p:cNvPr id="44" name="process-copy-History screen">
            <a:extLst xmlns:a="http://schemas.openxmlformats.org/drawingml/2006/main">
              <a:ext uri="{FF2B5EF4-FFF2-40B4-BE49-F238E27FC236}">
                <a16:creationId xmlns:a16="http://schemas.microsoft.com/office/drawing/2014/main" id="{4B6EEA4F-3669-4E94-93EC-70E1D8D7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146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GET /history -&gt;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Flutter list</a:t>
            </a:r>
          </a:p>
        </p:txBody>
      </p:sp>
      <p:sp>
        <p:nvSpPr>
          <p:cNvPr id="45" name="flow-branch-note">
            <a:extLst xmlns:a="http://schemas.openxmlformats.org/drawingml/2006/main">
              <a:ext uri="{FF2B5EF4-FFF2-40B4-BE49-F238E27FC236}">
                <a16:creationId xmlns:a16="http://schemas.microsoft.com/office/drawing/2014/main" id="{CFD00D4E-DA4A-47E0-BAD2-93413370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7662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FastAPI returns the JSON result to the current screen and, in parallel, stores the authenticated prediction so it can be retrieved later.</a:t>
            </a:r>
          </a:p>
        </p:txBody>
      </p:sp>
      <p:sp>
        <p:nvSpPr>
          <p:cNvPr id="4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2427A34-A58F-4292-B267-847C1526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Sources: backend/app.py; backend/auth.py; lib/backend_api.dart; lib/detection.dart; lib/history.dart.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890316-D6CB-4929-A603-B50B56A2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Dataset processing and stratified split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D5256D-28D2-4C6E-A0BF-35BA26CE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23AA9C-D636-46A6-B3FC-DBB72A2A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data-pipeline-label">
            <a:extLst xmlns:a="http://schemas.openxmlformats.org/drawingml/2006/main">
              <a:ext uri="{FF2B5EF4-FFF2-40B4-BE49-F238E27FC236}">
                <a16:creationId xmlns:a16="http://schemas.microsoft.com/office/drawing/2014/main" id="{2F762AC5-0D65-454C-9CA1-276C1152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Dataset preparation pipeline</a:t>
            </a:r>
          </a:p>
        </p:txBody>
      </p:sp>
      <p:sp>
        <p:nvSpPr>
          <p:cNvPr id="5" name="process-Raw ISIC2020">
            <a:extLst xmlns:a="http://schemas.openxmlformats.org/drawingml/2006/main">
              <a:ext uri="{FF2B5EF4-FFF2-40B4-BE49-F238E27FC236}">
                <a16:creationId xmlns:a16="http://schemas.microsoft.com/office/drawing/2014/main" id="{22DB4EB5-6FDE-47E3-A3E7-097BCE44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process-title-Raw ISIC2020">
            <a:extLst xmlns:a="http://schemas.openxmlformats.org/drawingml/2006/main">
              <a:ext uri="{FF2B5EF4-FFF2-40B4-BE49-F238E27FC236}">
                <a16:creationId xmlns:a16="http://schemas.microsoft.com/office/drawing/2014/main" id="{9D726C4F-DDBD-4597-8CD3-A1ADC26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Raw ISIC2020</a:t>
            </a:r>
          </a:p>
        </p:txBody>
      </p:sp>
      <p:sp>
        <p:nvSpPr>
          <p:cNvPr id="7" name="process-copy-Raw ISIC2020">
            <a:extLst xmlns:a="http://schemas.openxmlformats.org/drawingml/2006/main">
              <a:ext uri="{FF2B5EF4-FFF2-40B4-BE49-F238E27FC236}">
                <a16:creationId xmlns:a16="http://schemas.microsoft.com/office/drawing/2014/main" id="{30D6B0A4-A65A-42F1-8AD6-4D018E8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33,126 JPEGs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ground-truth CSV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D5459567-15BB-41CB-9C20-83DB679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95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9" name="process-Validate + label">
            <a:extLst xmlns:a="http://schemas.openxmlformats.org/drawingml/2006/main">
              <a:ext uri="{FF2B5EF4-FFF2-40B4-BE49-F238E27FC236}">
                <a16:creationId xmlns:a16="http://schemas.microsoft.com/office/drawing/2014/main" id="{CE9E2215-F4EB-45A0-A418-74647CA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process-title-Validate + label">
            <a:extLst xmlns:a="http://schemas.openxmlformats.org/drawingml/2006/main">
              <a:ext uri="{FF2B5EF4-FFF2-40B4-BE49-F238E27FC236}">
                <a16:creationId xmlns:a16="http://schemas.microsoft.com/office/drawing/2014/main" id="{7AC5D08D-BA37-4D07-8E88-9C52D2CE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525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+ label</a:t>
            </a:r>
          </a:p>
        </p:txBody>
      </p:sp>
      <p:sp>
        <p:nvSpPr>
          <p:cNvPr id="11" name="process-copy-Validate + label">
            <a:extLst xmlns:a="http://schemas.openxmlformats.org/drawingml/2006/main">
              <a:ext uri="{FF2B5EF4-FFF2-40B4-BE49-F238E27FC236}">
                <a16:creationId xmlns:a16="http://schemas.microsoft.com/office/drawing/2014/main" id="{23BF53E7-4180-4EDD-A640-3D242F4E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811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resolve file path;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normalize target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3C88DFF0-488E-44F3-BAAD-44EB8EBA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3" name="process-Prepared dataset">
            <a:extLst xmlns:a="http://schemas.openxmlformats.org/drawingml/2006/main">
              <a:ext uri="{FF2B5EF4-FFF2-40B4-BE49-F238E27FC236}">
                <a16:creationId xmlns:a16="http://schemas.microsoft.com/office/drawing/2014/main" id="{47B7B341-E9FD-4269-A03D-45CAB954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668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process-title-Prepared dataset">
            <a:extLst xmlns:a="http://schemas.openxmlformats.org/drawingml/2006/main">
              <a:ext uri="{FF2B5EF4-FFF2-40B4-BE49-F238E27FC236}">
                <a16:creationId xmlns:a16="http://schemas.microsoft.com/office/drawing/2014/main" id="{AA9AA085-E1E6-4587-A2D4-0CF6D280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52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Prepared dataset</a:t>
            </a:r>
          </a:p>
        </p:txBody>
      </p:sp>
      <p:sp>
        <p:nvSpPr>
          <p:cNvPr id="15" name="process-copy-Prepared dataset">
            <a:extLst xmlns:a="http://schemas.openxmlformats.org/drawingml/2006/main">
              <a:ext uri="{FF2B5EF4-FFF2-40B4-BE49-F238E27FC236}">
                <a16:creationId xmlns:a16="http://schemas.microsoft.com/office/drawing/2014/main" id="{08AE8F6F-6D67-4D2B-9DD9-09F3C06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811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benign/malignant folders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+ clinical_metadata.csv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27C02FC9-3439-4B7E-9136-328A9882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95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7" name="process-PyTorch dataset">
            <a:extLst xmlns:a="http://schemas.openxmlformats.org/drawingml/2006/main">
              <a:ext uri="{FF2B5EF4-FFF2-40B4-BE49-F238E27FC236}">
                <a16:creationId xmlns:a16="http://schemas.microsoft.com/office/drawing/2014/main" id="{50B51222-894E-478E-B1C7-A346A75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4668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process-title-PyTorch dataset">
            <a:extLst xmlns:a="http://schemas.openxmlformats.org/drawingml/2006/main">
              <a:ext uri="{FF2B5EF4-FFF2-40B4-BE49-F238E27FC236}">
                <a16:creationId xmlns:a16="http://schemas.microsoft.com/office/drawing/2014/main" id="{96D791EA-B233-4535-A9DD-94758568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5525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PyTorch dataset</a:t>
            </a:r>
          </a:p>
        </p:txBody>
      </p:sp>
      <p:sp>
        <p:nvSpPr>
          <p:cNvPr id="19" name="process-copy-PyTorch dataset">
            <a:extLst xmlns:a="http://schemas.openxmlformats.org/drawingml/2006/main">
              <a:ext uri="{FF2B5EF4-FFF2-40B4-BE49-F238E27FC236}">
                <a16:creationId xmlns:a16="http://schemas.microsoft.com/office/drawing/2014/main" id="{EF052970-E65C-4D64-AB42-321A4761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811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RGB image tensor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12-D clinical vector + label</a:t>
            </a:r>
          </a:p>
        </p:txBody>
      </p:sp>
      <p:sp>
        <p:nvSpPr>
          <p:cNvPr id="20" name="split-label">
            <a:extLst xmlns:a="http://schemas.openxmlformats.org/drawingml/2006/main">
              <a:ext uri="{FF2B5EF4-FFF2-40B4-BE49-F238E27FC236}">
                <a16:creationId xmlns:a16="http://schemas.microsoft.com/office/drawing/2014/main" id="{0780148A-6C10-4698-AD63-EAE2FBB9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Stratified 80/20 split, fixed seed 42</a:t>
            </a:r>
          </a:p>
        </p:txBody>
      </p:sp>
      <p:graphicFrame>
        <p:nvGraphicFramePr>
          <p:cNvPr id="48" name=""/>
          <p:cNvGraphicFramePr/>
          <p:nvPr/>
        </p:nvGraphicFramePr>
        <p:xfrm>
          <a:off xmlns:a="http://schemas.openxmlformats.org/drawingml/2006/main" x="609600" y="2552700"/>
          <a:ext xmlns:a="http://schemas.openxmlformats.org/drawingml/2006/main" cx="4762500" cy="1104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952500"/>
                <a:gridCol w="952500"/>
                <a:gridCol w="952500"/>
                <a:gridCol w="952500"/>
              </a:tblGrid>
              <a:tr h="276225"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Subset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Benign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Malignant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Loader behavior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26,501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26,034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467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shuffle + augmentation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6,625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6,508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no shuffle; deterministic</a:t>
                      </a:r>
                    </a:p>
                  </a:txBody>
                  <a:tcPr marL="91440" marR="91440" marT="45720" marB="45720"/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All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33,126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32,542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class ratio preserved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2" name="panel-Clinical encoding">
            <a:extLst xmlns:a="http://schemas.openxmlformats.org/drawingml/2006/main">
              <a:ext uri="{FF2B5EF4-FFF2-40B4-BE49-F238E27FC236}">
                <a16:creationId xmlns:a16="http://schemas.microsoft.com/office/drawing/2014/main" id="{D46606B4-2F30-4A9A-8509-C375076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2266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head-Clinical encoding">
            <a:extLst xmlns:a="http://schemas.openxmlformats.org/drawingml/2006/main">
              <a:ext uri="{FF2B5EF4-FFF2-40B4-BE49-F238E27FC236}">
                <a16:creationId xmlns:a16="http://schemas.microsoft.com/office/drawing/2014/main" id="{78209A5C-FB6C-45F7-BBE9-3901E3D9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Clinical encoding</a:t>
            </a:r>
          </a:p>
        </p:txBody>
      </p:sp>
      <p:sp>
        <p:nvSpPr>
          <p:cNvPr id="24" name="copy-Clinical encoding">
            <a:extLst xmlns:a="http://schemas.openxmlformats.org/drawingml/2006/main">
              <a:ext uri="{FF2B5EF4-FFF2-40B4-BE49-F238E27FC236}">
                <a16:creationId xmlns:a16="http://schemas.microsoft.com/office/drawing/2014/main" id="{033182E3-ED03-4F23-AAAD-82B8D9E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09875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3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Age is divided by 100. Sex uses 4 one-hot categories and anatomical site uses 7 one-hot categories, giving a 12-dimensional vector. Missing values map to 'unknown'.</a:t>
            </a:r>
          </a:p>
        </p:txBody>
      </p:sp>
      <p:sp>
        <p:nvSpPr>
          <p:cNvPr id="25" name="train-transform-line">
            <a:extLst xmlns:a="http://schemas.openxmlformats.org/drawingml/2006/main">
              <a:ext uri="{FF2B5EF4-FFF2-40B4-BE49-F238E27FC236}">
                <a16:creationId xmlns:a16="http://schemas.microsoft.com/office/drawing/2014/main" id="{05D7025B-09D1-4D24-BE85-E1957ED3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3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Training transforms: random resized crop to 224, horizontal flip, rotation, colour jitter and ImageNet normalization.</a:t>
            </a:r>
          </a:p>
        </p:txBody>
      </p:sp>
      <p:sp>
        <p:nvSpPr>
          <p:cNvPr id="26" name="val-transform-line">
            <a:extLst xmlns:a="http://schemas.openxmlformats.org/drawingml/2006/main">
              <a:ext uri="{FF2B5EF4-FFF2-40B4-BE49-F238E27FC236}">
                <a16:creationId xmlns:a16="http://schemas.microsoft.com/office/drawing/2014/main" id="{7DC83776-1D04-4C6D-9F2C-897C0500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3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Validation transforms: resize to 256, center crop to 224 and ImageNet normalization; no random augmentation.</a:t>
            </a:r>
          </a:p>
        </p:txBody>
      </p:sp>
      <p:sp>
        <p:nvSpPr>
          <p:cNvPr id="2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BB0D27F-C532-4C2C-B2EB-C6775E2F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backend/train_src/prepare_isic2020.py and backend/train_src/dataset.py.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F5AC2F-3929-40DB-96C9-8EF0D2D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Model design and method justification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5F21DE0-0ECE-4FC8-A3CD-39C0B88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MULTI-MODAL FUSION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7E8959-97CC-4A50-AD72-41FDD8B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process-Image branch">
            <a:extLst xmlns:a="http://schemas.openxmlformats.org/drawingml/2006/main">
              <a:ext uri="{FF2B5EF4-FFF2-40B4-BE49-F238E27FC236}">
                <a16:creationId xmlns:a16="http://schemas.microsoft.com/office/drawing/2014/main" id="{0F98E86E-1ECB-4D27-8084-3F7E6C29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process-title-Image branch">
            <a:extLst xmlns:a="http://schemas.openxmlformats.org/drawingml/2006/main">
              <a:ext uri="{FF2B5EF4-FFF2-40B4-BE49-F238E27FC236}">
                <a16:creationId xmlns:a16="http://schemas.microsoft.com/office/drawing/2014/main" id="{705644A9-7759-4DD9-B6D4-1DF7F37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 branch</a:t>
            </a:r>
          </a:p>
        </p:txBody>
      </p:sp>
      <p:sp>
        <p:nvSpPr>
          <p:cNvPr id="6" name="process-copy-Image branch">
            <a:extLst xmlns:a="http://schemas.openxmlformats.org/drawingml/2006/main">
              <a:ext uri="{FF2B5EF4-FFF2-40B4-BE49-F238E27FC236}">
                <a16:creationId xmlns:a16="http://schemas.microsoft.com/office/drawing/2014/main" id="{66FA72BF-5C93-47C9-94DB-73143218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224 x 224 lesion image</a:t>
            </a:r>
          </a:p>
        </p:txBody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CF6E98A8-CE86-4FC1-9447-6B29A74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8" name="process-ResNet50">
            <a:extLst xmlns:a="http://schemas.openxmlformats.org/drawingml/2006/main">
              <a:ext uri="{FF2B5EF4-FFF2-40B4-BE49-F238E27FC236}">
                <a16:creationId xmlns:a16="http://schemas.microsoft.com/office/drawing/2014/main" id="{2BEFA672-57ED-46AB-BD59-C49A770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28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process-title-ResNet50">
            <a:extLst xmlns:a="http://schemas.openxmlformats.org/drawingml/2006/main">
              <a:ext uri="{FF2B5EF4-FFF2-40B4-BE49-F238E27FC236}">
                <a16:creationId xmlns:a16="http://schemas.microsoft.com/office/drawing/2014/main" id="{4522722E-2F02-4D79-B825-6EE15061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14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ResNet50</a:t>
            </a:r>
          </a:p>
        </p:txBody>
      </p:sp>
      <p:sp>
        <p:nvSpPr>
          <p:cNvPr id="10" name="process-copy-ResNet50">
            <a:extLst xmlns:a="http://schemas.openxmlformats.org/drawingml/2006/main">
              <a:ext uri="{FF2B5EF4-FFF2-40B4-BE49-F238E27FC236}">
                <a16:creationId xmlns:a16="http://schemas.microsoft.com/office/drawing/2014/main" id="{3BF2D94A-D6D6-47B0-AAD7-1D91632D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43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pretrained feature extractor</a:t>
            </a:r>
          </a:p>
        </p:txBody>
      </p:sp>
      <p:sp>
        <p:nvSpPr>
          <p:cNvPr id="11" name="process-Clinical branch">
            <a:extLst xmlns:a="http://schemas.openxmlformats.org/drawingml/2006/main">
              <a:ext uri="{FF2B5EF4-FFF2-40B4-BE49-F238E27FC236}">
                <a16:creationId xmlns:a16="http://schemas.microsoft.com/office/drawing/2014/main" id="{8C1ABAC6-D6CD-4CFE-BE87-E0BDEBB9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process-title-Clinical branch">
            <a:extLst xmlns:a="http://schemas.openxmlformats.org/drawingml/2006/main">
              <a:ext uri="{FF2B5EF4-FFF2-40B4-BE49-F238E27FC236}">
                <a16:creationId xmlns:a16="http://schemas.microsoft.com/office/drawing/2014/main" id="{7BE51C6C-8CBA-436F-954A-440AECA7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Clinical branch</a:t>
            </a:r>
          </a:p>
        </p:txBody>
      </p:sp>
      <p:sp>
        <p:nvSpPr>
          <p:cNvPr id="13" name="process-copy-Clinical branch">
            <a:extLst xmlns:a="http://schemas.openxmlformats.org/drawingml/2006/main">
              <a:ext uri="{FF2B5EF4-FFF2-40B4-BE49-F238E27FC236}">
                <a16:creationId xmlns:a16="http://schemas.microsoft.com/office/drawing/2014/main" id="{7AB629E6-2C86-448E-9151-D997D724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age, sex, anatomical site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8895EA30-AE7E-48F7-B495-89B50939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0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5" name="process-MLP">
            <a:extLst xmlns:a="http://schemas.openxmlformats.org/drawingml/2006/main">
              <a:ext uri="{FF2B5EF4-FFF2-40B4-BE49-F238E27FC236}">
                <a16:creationId xmlns:a16="http://schemas.microsoft.com/office/drawing/2014/main" id="{978FB0E8-6171-4755-999A-49569FD2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process-title-MLP">
            <a:extLst xmlns:a="http://schemas.openxmlformats.org/drawingml/2006/main">
              <a:ext uri="{FF2B5EF4-FFF2-40B4-BE49-F238E27FC236}">
                <a16:creationId xmlns:a16="http://schemas.microsoft.com/office/drawing/2014/main" id="{E09FDFF8-0DD6-4141-843A-594A2C5E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57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17" name="process-copy-MLP">
            <a:extLst xmlns:a="http://schemas.openxmlformats.org/drawingml/2006/main">
              <a:ext uri="{FF2B5EF4-FFF2-40B4-BE49-F238E27FC236}">
                <a16:creationId xmlns:a16="http://schemas.microsoft.com/office/drawing/2014/main" id="{656C6F30-92A4-4CCC-8AB8-C759F3EC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860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128-dim metadata feature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FF9F1BB0-81A1-4450-AE8B-774F6AEF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19" name="process-Concatenate">
            <a:extLst xmlns:a="http://schemas.openxmlformats.org/drawingml/2006/main">
              <a:ext uri="{FF2B5EF4-FFF2-40B4-BE49-F238E27FC236}">
                <a16:creationId xmlns:a16="http://schemas.microsoft.com/office/drawing/2014/main" id="{9CE9A10F-CFEF-4286-8B09-12FEEB15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002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0" name="process-title-Concatenate">
            <a:extLst xmlns:a="http://schemas.openxmlformats.org/drawingml/2006/main">
              <a:ext uri="{FF2B5EF4-FFF2-40B4-BE49-F238E27FC236}">
                <a16:creationId xmlns:a16="http://schemas.microsoft.com/office/drawing/2014/main" id="{3F17342B-7048-442F-8CAE-F0F7311F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85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Concatenate</a:t>
            </a:r>
          </a:p>
        </p:txBody>
      </p:sp>
      <p:sp>
        <p:nvSpPr>
          <p:cNvPr id="21" name="process-copy-Concatenate">
            <a:extLst xmlns:a="http://schemas.openxmlformats.org/drawingml/2006/main">
              <a:ext uri="{FF2B5EF4-FFF2-40B4-BE49-F238E27FC236}">
                <a16:creationId xmlns:a16="http://schemas.microsoft.com/office/drawing/2014/main" id="{FE32CA36-251E-433F-9010-1545F2AA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145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image + clinical features</a:t>
            </a:r>
          </a:p>
        </p:txBody>
      </p:sp>
      <p:sp>
        <p:nvSpPr>
          <p:cNvPr id="22" name="arrow">
            <a:extLst xmlns:a="http://schemas.openxmlformats.org/drawingml/2006/main">
              <a:ext uri="{FF2B5EF4-FFF2-40B4-BE49-F238E27FC236}">
                <a16:creationId xmlns:a16="http://schemas.microsoft.com/office/drawing/2014/main" id="{20FF2B39-3873-4C89-A49B-FAB101E2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8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23" name="process-Classifier">
            <a:extLst xmlns:a="http://schemas.openxmlformats.org/drawingml/2006/main">
              <a:ext uri="{FF2B5EF4-FFF2-40B4-BE49-F238E27FC236}">
                <a16:creationId xmlns:a16="http://schemas.microsoft.com/office/drawing/2014/main" id="{EAB1C84C-2B4C-4A55-AE07-F00EE153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process-title-Classifier">
            <a:extLst xmlns:a="http://schemas.openxmlformats.org/drawingml/2006/main">
              <a:ext uri="{FF2B5EF4-FFF2-40B4-BE49-F238E27FC236}">
                <a16:creationId xmlns:a16="http://schemas.microsoft.com/office/drawing/2014/main" id="{F67C929D-9605-443D-9FF5-31494E0E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85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25" name="process-copy-Classifier">
            <a:extLst xmlns:a="http://schemas.openxmlformats.org/drawingml/2006/main">
              <a:ext uri="{FF2B5EF4-FFF2-40B4-BE49-F238E27FC236}">
                <a16:creationId xmlns:a16="http://schemas.microsoft.com/office/drawing/2014/main" id="{072D125D-9FDC-4146-A88D-3FAFB653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145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benign / malignant</a:t>
            </a:r>
          </a:p>
        </p:txBody>
      </p:sp>
      <p:sp>
        <p:nvSpPr>
          <p:cNvPr id="26" name="metric-training epochs">
            <a:extLst xmlns:a="http://schemas.openxmlformats.org/drawingml/2006/main">
              <a:ext uri="{FF2B5EF4-FFF2-40B4-BE49-F238E27FC236}">
                <a16:creationId xmlns:a16="http://schemas.microsoft.com/office/drawing/2014/main" id="{1A14F323-9FFF-4772-85C3-A09B3D2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metric-value-training epochs">
            <a:extLst xmlns:a="http://schemas.openxmlformats.org/drawingml/2006/main">
              <a:ext uri="{FF2B5EF4-FFF2-40B4-BE49-F238E27FC236}">
                <a16:creationId xmlns:a16="http://schemas.microsoft.com/office/drawing/2014/main" id="{A60F89AC-3679-4D5C-9FEB-920C5258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28" name="metric-label-training epochs">
            <a:extLst xmlns:a="http://schemas.openxmlformats.org/drawingml/2006/main">
              <a:ext uri="{FF2B5EF4-FFF2-40B4-BE49-F238E27FC236}">
                <a16:creationId xmlns:a16="http://schemas.microsoft.com/office/drawing/2014/main" id="{0813381E-68C1-4551-B999-057E075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200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training epochs</a:t>
            </a:r>
          </a:p>
        </p:txBody>
      </p:sp>
      <p:sp>
        <p:nvSpPr>
          <p:cNvPr id="29" name="metric-batch size">
            <a:extLst xmlns:a="http://schemas.openxmlformats.org/drawingml/2006/main">
              <a:ext uri="{FF2B5EF4-FFF2-40B4-BE49-F238E27FC236}">
                <a16:creationId xmlns:a16="http://schemas.microsoft.com/office/drawing/2014/main" id="{2DF82AC0-2352-40EC-8E05-E34E7E10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909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0" name="metric-value-batch size">
            <a:extLst xmlns:a="http://schemas.openxmlformats.org/drawingml/2006/main">
              <a:ext uri="{FF2B5EF4-FFF2-40B4-BE49-F238E27FC236}">
                <a16:creationId xmlns:a16="http://schemas.microsoft.com/office/drawing/2014/main" id="{3835E40B-981D-4F0D-BBF8-9986E82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32</a:t>
            </a:r>
          </a:p>
        </p:txBody>
      </p:sp>
      <p:sp>
        <p:nvSpPr>
          <p:cNvPr id="31" name="metric-label-batch size">
            <a:extLst xmlns:a="http://schemas.openxmlformats.org/drawingml/2006/main">
              <a:ext uri="{FF2B5EF4-FFF2-40B4-BE49-F238E27FC236}">
                <a16:creationId xmlns:a16="http://schemas.microsoft.com/office/drawing/2014/main" id="{DEA328FB-8491-4CAA-A1A4-D1838311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200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32" name="metric-learning rate">
            <a:extLst xmlns:a="http://schemas.openxmlformats.org/drawingml/2006/main">
              <a:ext uri="{FF2B5EF4-FFF2-40B4-BE49-F238E27FC236}">
                <a16:creationId xmlns:a16="http://schemas.microsoft.com/office/drawing/2014/main" id="{951184D5-C9EF-4F2A-9110-D55E17F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909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metric-value-learning rate">
            <a:extLst xmlns:a="http://schemas.openxmlformats.org/drawingml/2006/main">
              <a:ext uri="{FF2B5EF4-FFF2-40B4-BE49-F238E27FC236}">
                <a16:creationId xmlns:a16="http://schemas.microsoft.com/office/drawing/2014/main" id="{C5E7C11D-D433-4FA8-88A5-72608863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052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1e-4</a:t>
            </a:r>
          </a:p>
        </p:txBody>
      </p:sp>
      <p:sp>
        <p:nvSpPr>
          <p:cNvPr id="34" name="metric-label-learning rate">
            <a:extLst xmlns:a="http://schemas.openxmlformats.org/drawingml/2006/main">
              <a:ext uri="{FF2B5EF4-FFF2-40B4-BE49-F238E27FC236}">
                <a16:creationId xmlns:a16="http://schemas.microsoft.com/office/drawing/2014/main" id="{88FFAED3-8F79-4276-BF75-EC69F47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48100"/>
            <a:ext cx="1200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learning rate</a:t>
            </a:r>
          </a:p>
        </p:txBody>
      </p:sp>
      <p:sp>
        <p:nvSpPr>
          <p:cNvPr id="35" name="panel-Fair comparison">
            <a:extLst xmlns:a="http://schemas.openxmlformats.org/drawingml/2006/main">
              <a:ext uri="{FF2B5EF4-FFF2-40B4-BE49-F238E27FC236}">
                <a16:creationId xmlns:a16="http://schemas.microsoft.com/office/drawing/2014/main" id="{6E7B99AB-3F28-4619-A469-1A29F721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909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6" name="head-Fair comparison">
            <a:extLst xmlns:a="http://schemas.openxmlformats.org/drawingml/2006/main">
              <a:ext uri="{FF2B5EF4-FFF2-40B4-BE49-F238E27FC236}">
                <a16:creationId xmlns:a16="http://schemas.microsoft.com/office/drawing/2014/main" id="{1C2C3035-CDE7-43D7-BC00-110C240D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861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Fair comparison</a:t>
            </a:r>
          </a:p>
        </p:txBody>
      </p:sp>
      <p:sp>
        <p:nvSpPr>
          <p:cNvPr id="37" name="copy-Fair comparison">
            <a:extLst xmlns:a="http://schemas.openxmlformats.org/drawingml/2006/main">
              <a:ext uri="{FF2B5EF4-FFF2-40B4-BE49-F238E27FC236}">
                <a16:creationId xmlns:a16="http://schemas.microsoft.com/office/drawing/2014/main" id="{D1DCE8FF-7CBE-4593-A8B1-DD23BFEC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427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6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Same validation split. Select by AUC; also report recall, F1 and balanced accuracy.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61FD6F-5B71-4CBF-A8B7-00A37DF3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Progress to date: tangible deliverables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25959B-EE02-44A7-BEE1-37F9069F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C25B1F-B9ED-4947-9303-C49A3847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panel-Model training">
            <a:extLst xmlns:a="http://schemas.openxmlformats.org/drawingml/2006/main">
              <a:ext uri="{FF2B5EF4-FFF2-40B4-BE49-F238E27FC236}">
                <a16:creationId xmlns:a16="http://schemas.microsoft.com/office/drawing/2014/main" id="{FE5B5803-9C44-401C-952D-AFE9C85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head-Model training">
            <a:extLst xmlns:a="http://schemas.openxmlformats.org/drawingml/2006/main">
              <a:ext uri="{FF2B5EF4-FFF2-40B4-BE49-F238E27FC236}">
                <a16:creationId xmlns:a16="http://schemas.microsoft.com/office/drawing/2014/main" id="{95DB93EC-AAF3-4461-9D2B-1BD8311B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training</a:t>
            </a:r>
          </a:p>
        </p:txBody>
      </p:sp>
      <p:sp>
        <p:nvSpPr>
          <p:cNvPr id="6" name="copy-Model training">
            <a:extLst xmlns:a="http://schemas.openxmlformats.org/drawingml/2006/main">
              <a:ext uri="{FF2B5EF4-FFF2-40B4-BE49-F238E27FC236}">
                <a16:creationId xmlns:a16="http://schemas.microsoft.com/office/drawing/2014/main" id="{1C67D3CE-9DA5-4142-83EA-91CDD305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Formal image-only and multi-modal experiments completed; CSV metrics, predictions and figures generated.</a:t>
            </a:r>
          </a:p>
        </p:txBody>
      </p:sp>
      <p:sp>
        <p:nvSpPr>
          <p:cNvPr id="7" name="panel-Backend">
            <a:extLst xmlns:a="http://schemas.openxmlformats.org/drawingml/2006/main">
              <a:ext uri="{FF2B5EF4-FFF2-40B4-BE49-F238E27FC236}">
                <a16:creationId xmlns:a16="http://schemas.microsoft.com/office/drawing/2014/main" id="{CAA42B5F-F09B-49B9-B04D-09B9397D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144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head-Backend">
            <a:extLst xmlns:a="http://schemas.openxmlformats.org/drawingml/2006/main">
              <a:ext uri="{FF2B5EF4-FFF2-40B4-BE49-F238E27FC236}">
                <a16:creationId xmlns:a16="http://schemas.microsoft.com/office/drawing/2014/main" id="{47441A39-13BF-4287-B025-39A367D8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9" name="copy-Backend">
            <a:extLst xmlns:a="http://schemas.openxmlformats.org/drawingml/2006/main">
              <a:ext uri="{FF2B5EF4-FFF2-40B4-BE49-F238E27FC236}">
                <a16:creationId xmlns:a16="http://schemas.microsoft.com/office/drawing/2014/main" id="{5F2FCC2B-1FCA-47DE-9421-2E2A4871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4782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FastAPI loads the trained checkpoint, accepts image and metadata fields, returns top-k prediction and disclaimer.</a:t>
            </a:r>
          </a:p>
        </p:txBody>
      </p:sp>
      <p:sp>
        <p:nvSpPr>
          <p:cNvPr id="10" name="panel-Mobile app">
            <a:extLst xmlns:a="http://schemas.openxmlformats.org/drawingml/2006/main">
              <a:ext uri="{FF2B5EF4-FFF2-40B4-BE49-F238E27FC236}">
                <a16:creationId xmlns:a16="http://schemas.microsoft.com/office/drawing/2014/main" id="{9215E712-4625-4715-9D7A-9E170AC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144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head-Mobile app">
            <a:extLst xmlns:a="http://schemas.openxmlformats.org/drawingml/2006/main">
              <a:ext uri="{FF2B5EF4-FFF2-40B4-BE49-F238E27FC236}">
                <a16:creationId xmlns:a16="http://schemas.microsoft.com/office/drawing/2014/main" id="{B65F9757-F48B-4132-B513-705CEF47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Mobile app</a:t>
            </a:r>
          </a:p>
        </p:txBody>
      </p:sp>
      <p:sp>
        <p:nvSpPr>
          <p:cNvPr id="12" name="copy-Mobile app">
            <a:extLst xmlns:a="http://schemas.openxmlformats.org/drawingml/2006/main">
              <a:ext uri="{FF2B5EF4-FFF2-40B4-BE49-F238E27FC236}">
                <a16:creationId xmlns:a16="http://schemas.microsoft.com/office/drawing/2014/main" id="{B95001D2-DCF8-444A-B27F-617EFFC0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4782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Flutter screens support login/session flow, lesion image input, clinical form, prediction display and history.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762000" y="2590800"/>
          <a:ext xmlns:a="http://schemas.openxmlformats.org/drawingml/2006/main" cx="6953250" cy="1162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76625"/>
                <a:gridCol w="3476625"/>
              </a:tblGrid>
              <a:tr h="23241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Implemented evidence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Authentication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register, login, current user endpoint and bearer token checks</a:t>
                      </a:r>
                    </a:p>
                  </a:txBody>
                  <a:tcPr marL="91440" marR="91440" marT="45720" marB="45720"/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Prediction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multipart image upload with age, sex, anatomical site and top-k parameter</a:t>
                      </a:r>
                    </a:p>
                  </a:txBody>
                  <a:tcPr marL="91440" marR="91440" marT="45720" marB="45720"/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SQLite prediction_history table plus /history endpoint</a:t>
                      </a:r>
                    </a:p>
                  </a:txBody>
                  <a:tcPr marL="91440" marR="91440" marT="45720" marB="45720"/>
                </a:tc>
              </a:tr>
              <a:tr h="23241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Flutter client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Backend API client, detection screen, clinical inputs and history screen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005ABE7-5F45-41FD-887F-08C68F98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Sources: backend/app.py; backend/auth.py; lib/detection.dart; lib/backend_api.dart; lib/history.dart.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2F8B2A-5E3C-4370-8E05-358DE15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Initial results: multi-modal model improves the baseline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5047529-F899-4155-9F4D-2788A1FC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281979-E5E7-4CA8-9D11-2319A7B2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90550" y="1381125"/>
          <a:ext xmlns:a="http://schemas.openxmlformats.org/drawingml/2006/main" cx="49530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6bf09f70d94259"/>
          </a:graphicData>
        </a:graphic>
      </p:graphicFrame>
      <p:sp>
        <p:nvSpPr>
          <p:cNvPr id="5" name="delta-AUC improvement">
            <a:extLst xmlns:a="http://schemas.openxmlformats.org/drawingml/2006/main">
              <a:ext uri="{FF2B5EF4-FFF2-40B4-BE49-F238E27FC236}">
                <a16:creationId xmlns:a16="http://schemas.microsoft.com/office/drawing/2014/main" id="{CCC6B0AD-1FFD-4263-A834-12E4D6CE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delta-value-AUC improvement">
            <a:extLst xmlns:a="http://schemas.openxmlformats.org/drawingml/2006/main">
              <a:ext uri="{FF2B5EF4-FFF2-40B4-BE49-F238E27FC236}">
                <a16:creationId xmlns:a16="http://schemas.microsoft.com/office/drawing/2014/main" id="{ED415A33-B6BF-42D0-9430-800AE11D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+0.019</a:t>
            </a:r>
          </a:p>
        </p:txBody>
      </p:sp>
      <p:sp>
        <p:nvSpPr>
          <p:cNvPr id="7" name="delta-label-AUC improvement">
            <a:extLst xmlns:a="http://schemas.openxmlformats.org/drawingml/2006/main">
              <a:ext uri="{FF2B5EF4-FFF2-40B4-BE49-F238E27FC236}">
                <a16:creationId xmlns:a16="http://schemas.microsoft.com/office/drawing/2014/main" id="{100383AB-F09C-4481-BA87-F3281488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9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AUC improvement</a:t>
            </a:r>
          </a:p>
        </p:txBody>
      </p:sp>
      <p:sp>
        <p:nvSpPr>
          <p:cNvPr id="8" name="delta-average precision">
            <a:extLst xmlns:a="http://schemas.openxmlformats.org/drawingml/2006/main">
              <a:ext uri="{FF2B5EF4-FFF2-40B4-BE49-F238E27FC236}">
                <a16:creationId xmlns:a16="http://schemas.microsoft.com/office/drawing/2014/main" id="{300592F2-76D5-4196-B02E-1619F082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81125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delta-value-average precision">
            <a:extLst xmlns:a="http://schemas.openxmlformats.org/drawingml/2006/main">
              <a:ext uri="{FF2B5EF4-FFF2-40B4-BE49-F238E27FC236}">
                <a16:creationId xmlns:a16="http://schemas.microsoft.com/office/drawing/2014/main" id="{BA83F052-5025-4740-A529-C9855C7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668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+0.024</a:t>
            </a:r>
          </a:p>
        </p:txBody>
      </p:sp>
      <p:sp>
        <p:nvSpPr>
          <p:cNvPr id="10" name="delta-label-average precision">
            <a:extLst xmlns:a="http://schemas.openxmlformats.org/drawingml/2006/main">
              <a:ext uri="{FF2B5EF4-FFF2-40B4-BE49-F238E27FC236}">
                <a16:creationId xmlns:a16="http://schemas.microsoft.com/office/drawing/2014/main" id="{7B82E1E0-876C-4F38-89AE-54D57A8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52600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9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average precision</a:t>
            </a:r>
          </a:p>
        </p:txBody>
      </p:sp>
      <p:sp>
        <p:nvSpPr>
          <p:cNvPr id="11" name="delta-malignant recall">
            <a:extLst xmlns:a="http://schemas.openxmlformats.org/drawingml/2006/main">
              <a:ext uri="{FF2B5EF4-FFF2-40B4-BE49-F238E27FC236}">
                <a16:creationId xmlns:a16="http://schemas.microsoft.com/office/drawing/2014/main" id="{57683CA0-FB68-46E2-BA25-E6888EE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delta-value-malignant recall">
            <a:extLst xmlns:a="http://schemas.openxmlformats.org/drawingml/2006/main">
              <a:ext uri="{FF2B5EF4-FFF2-40B4-BE49-F238E27FC236}">
                <a16:creationId xmlns:a16="http://schemas.microsoft.com/office/drawing/2014/main" id="{615D81A3-CD94-4A4D-919A-B26AF8A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A1F1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7A1F1F"/>
                </a:solidFill>
                <a:latin typeface="Georgia"/>
                <a:ea typeface="Georgia"/>
                <a:cs typeface="Georgia"/>
              </a:rPr>
              <a:t>+2.6 pp</a:t>
            </a:r>
          </a:p>
        </p:txBody>
      </p:sp>
      <p:sp>
        <p:nvSpPr>
          <p:cNvPr id="13" name="delta-label-malignant recall">
            <a:extLst xmlns:a="http://schemas.openxmlformats.org/drawingml/2006/main">
              <a:ext uri="{FF2B5EF4-FFF2-40B4-BE49-F238E27FC236}">
                <a16:creationId xmlns:a16="http://schemas.microsoft.com/office/drawing/2014/main" id="{6A6BDA09-026E-4AAB-BF8A-D442669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384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9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malignant recall</a:t>
            </a:r>
          </a:p>
        </p:txBody>
      </p:sp>
      <p:sp>
        <p:nvSpPr>
          <p:cNvPr id="14" name="delta-false positives">
            <a:extLst xmlns:a="http://schemas.openxmlformats.org/drawingml/2006/main">
              <a:ext uri="{FF2B5EF4-FFF2-40B4-BE49-F238E27FC236}">
                <a16:creationId xmlns:a16="http://schemas.microsoft.com/office/drawing/2014/main" id="{F145818A-A7D0-4963-87E4-E7BBB00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delta-value-false positives">
            <a:extLst xmlns:a="http://schemas.openxmlformats.org/drawingml/2006/main">
              <a:ext uri="{FF2B5EF4-FFF2-40B4-BE49-F238E27FC236}">
                <a16:creationId xmlns:a16="http://schemas.microsoft.com/office/drawing/2014/main" id="{F04D9E66-9961-481B-9578-85C4EC15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526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4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6F4E"/>
                </a:solidFill>
                <a:latin typeface="Georgia"/>
                <a:ea typeface="Georgia"/>
                <a:cs typeface="Georgia"/>
              </a:rPr>
              <a:t>-114</a:t>
            </a:r>
          </a:p>
        </p:txBody>
      </p:sp>
      <p:sp>
        <p:nvSpPr>
          <p:cNvPr id="16" name="delta-label-false positives">
            <a:extLst xmlns:a="http://schemas.openxmlformats.org/drawingml/2006/main">
              <a:ext uri="{FF2B5EF4-FFF2-40B4-BE49-F238E27FC236}">
                <a16:creationId xmlns:a16="http://schemas.microsoft.com/office/drawing/2014/main" id="{5ABF9577-9C4C-4074-862E-92F16FB4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38425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69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false positives</a:t>
            </a:r>
          </a:p>
        </p:txBody>
      </p:sp>
      <p:sp>
        <p:nvSpPr>
          <p:cNvPr id="17" name="panel-Main interpretation">
            <a:extLst xmlns:a="http://schemas.openxmlformats.org/drawingml/2006/main">
              <a:ext uri="{FF2B5EF4-FFF2-40B4-BE49-F238E27FC236}">
                <a16:creationId xmlns:a16="http://schemas.microsoft.com/office/drawing/2014/main" id="{2486C4E6-2BF7-4005-B053-581D823B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head-Main interpretation">
            <a:extLst xmlns:a="http://schemas.openxmlformats.org/drawingml/2006/main">
              <a:ext uri="{FF2B5EF4-FFF2-40B4-BE49-F238E27FC236}">
                <a16:creationId xmlns:a16="http://schemas.microsoft.com/office/drawing/2014/main" id="{55C9AFAC-231A-4FBA-9A0C-8F084C59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 interpretation</a:t>
            </a:r>
          </a:p>
        </p:txBody>
      </p:sp>
      <p:sp>
        <p:nvSpPr>
          <p:cNvPr id="19" name="copy-Main interpretation">
            <a:extLst xmlns:a="http://schemas.openxmlformats.org/drawingml/2006/main">
              <a:ext uri="{FF2B5EF4-FFF2-40B4-BE49-F238E27FC236}">
                <a16:creationId xmlns:a16="http://schemas.microsoft.com/office/drawing/2014/main" id="{7D3DB5DB-25D8-49BD-A0DF-507D339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766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Fusion improves every melanoma-focused comparison metric on the same 6,625-sample validation set.</a:t>
            </a:r>
          </a:p>
        </p:txBody>
      </p:sp>
      <p:sp>
        <p:nvSpPr>
          <p:cNvPr id="2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B8ABEC8-78A0-4403-8208-B762A258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metrics_summary.csv from formal baseline and multi-modal experiment folders.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F26CB0-D6E5-4692-A88B-35374726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Discussion of results and remaining limitations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66DF72-37E7-4D71-AACD-9B2ADE4A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0C5892-5F88-4B0E-9566-4CA24A81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3429000" cy="1352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85800"/>
                <a:gridCol w="685800"/>
                <a:gridCol w="685800"/>
                <a:gridCol w="685800"/>
                <a:gridCol w="685800"/>
              </a:tblGrid>
              <a:tr h="45085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Confusion matrix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Image-only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5916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Multi-modal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6030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478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4D4D4D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panel-What improved">
            <a:extLst xmlns:a="http://schemas.openxmlformats.org/drawingml/2006/main">
              <a:ext uri="{FF2B5EF4-FFF2-40B4-BE49-F238E27FC236}">
                <a16:creationId xmlns:a16="http://schemas.microsoft.com/office/drawing/2014/main" id="{F7ED16F1-92D3-4CCA-9402-200FCE82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144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head-What improved">
            <a:extLst xmlns:a="http://schemas.openxmlformats.org/drawingml/2006/main">
              <a:ext uri="{FF2B5EF4-FFF2-40B4-BE49-F238E27FC236}">
                <a16:creationId xmlns:a16="http://schemas.microsoft.com/office/drawing/2014/main" id="{6F4BD5F7-88DA-4FCE-9F1C-5334B628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09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improved</a:t>
            </a:r>
          </a:p>
        </p:txBody>
      </p:sp>
      <p:sp>
        <p:nvSpPr>
          <p:cNvPr id="7" name="copy-What improved">
            <a:extLst xmlns:a="http://schemas.openxmlformats.org/drawingml/2006/main">
              <a:ext uri="{FF2B5EF4-FFF2-40B4-BE49-F238E27FC236}">
                <a16:creationId xmlns:a16="http://schemas.microsoft.com/office/drawing/2014/main" id="{DB08EFEC-DA52-4FCA-B482-4C2491A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4782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False positives reduced from 592 to 478; true positives increased from 60 to 63.</a:t>
            </a:r>
          </a:p>
        </p:txBody>
      </p:sp>
      <p:sp>
        <p:nvSpPr>
          <p:cNvPr id="8" name="panel-What still limits the model">
            <a:extLst xmlns:a="http://schemas.openxmlformats.org/drawingml/2006/main">
              <a:ext uri="{FF2B5EF4-FFF2-40B4-BE49-F238E27FC236}">
                <a16:creationId xmlns:a16="http://schemas.microsoft.com/office/drawing/2014/main" id="{9BC8A363-E36D-410E-A5B2-773F24A7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head-What still limits the model">
            <a:extLst xmlns:a="http://schemas.openxmlformats.org/drawingml/2006/main">
              <a:ext uri="{FF2B5EF4-FFF2-40B4-BE49-F238E27FC236}">
                <a16:creationId xmlns:a16="http://schemas.microsoft.com/office/drawing/2014/main" id="{2581DE4F-01CC-42BB-81FB-9848CE4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still limits the model</a:t>
            </a:r>
          </a:p>
        </p:txBody>
      </p:sp>
      <p:sp>
        <p:nvSpPr>
          <p:cNvPr id="10" name="copy-What still limits the model">
            <a:extLst xmlns:a="http://schemas.openxmlformats.org/drawingml/2006/main">
              <a:ext uri="{FF2B5EF4-FFF2-40B4-BE49-F238E27FC236}">
                <a16:creationId xmlns:a16="http://schemas.microsoft.com/office/drawing/2014/main" id="{37C9E5B5-7463-4A48-A626-B89969F5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288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malignant class remains small, so precision and F1 are still low even when AUC and specificity improve.</a:t>
            </a:r>
          </a:p>
        </p:txBody>
      </p:sp>
      <p:sp>
        <p:nvSpPr>
          <p:cNvPr id="11" name="panel-Next technical step">
            <a:extLst xmlns:a="http://schemas.openxmlformats.org/drawingml/2006/main">
              <a:ext uri="{FF2B5EF4-FFF2-40B4-BE49-F238E27FC236}">
                <a16:creationId xmlns:a16="http://schemas.microsoft.com/office/drawing/2014/main" id="{D6C1F8B3-8F97-465B-86E3-78881B02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head-Next technical step">
            <a:extLst xmlns:a="http://schemas.openxmlformats.org/drawingml/2006/main">
              <a:ext uri="{FF2B5EF4-FFF2-40B4-BE49-F238E27FC236}">
                <a16:creationId xmlns:a16="http://schemas.microsoft.com/office/drawing/2014/main" id="{10692528-06DF-42A3-8D27-37870DD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technical step</a:t>
            </a:r>
          </a:p>
        </p:txBody>
      </p:sp>
      <p:sp>
        <p:nvSpPr>
          <p:cNvPr id="13" name="copy-Next technical step">
            <a:extLst xmlns:a="http://schemas.openxmlformats.org/drawingml/2006/main">
              <a:ext uri="{FF2B5EF4-FFF2-40B4-BE49-F238E27FC236}">
                <a16:creationId xmlns:a16="http://schemas.microsoft.com/office/drawing/2014/main" id="{3FF2B1E0-0B9D-4FE1-A50A-F23CD607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Threshold analysis should guide the screening operating point instead of default argmax alone.</a:t>
            </a:r>
          </a:p>
        </p:txBody>
      </p:sp>
      <p:sp>
        <p:nvSpPr>
          <p:cNvPr id="14" name="panel-App implication">
            <a:extLst xmlns:a="http://schemas.openxmlformats.org/drawingml/2006/main">
              <a:ext uri="{FF2B5EF4-FFF2-40B4-BE49-F238E27FC236}">
                <a16:creationId xmlns:a16="http://schemas.microsoft.com/office/drawing/2014/main" id="{E56DD322-D00A-4172-909E-EFBAA17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head-App implication">
            <a:extLst xmlns:a="http://schemas.openxmlformats.org/drawingml/2006/main">
              <a:ext uri="{FF2B5EF4-FFF2-40B4-BE49-F238E27FC236}">
                <a16:creationId xmlns:a16="http://schemas.microsoft.com/office/drawing/2014/main" id="{BAA71052-7A02-45FA-931D-D77BB66D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956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 implication</a:t>
            </a:r>
          </a:p>
        </p:txBody>
      </p:sp>
      <p:sp>
        <p:nvSpPr>
          <p:cNvPr id="16" name="copy-App implication">
            <a:extLst xmlns:a="http://schemas.openxmlformats.org/drawingml/2006/main">
              <a:ext uri="{FF2B5EF4-FFF2-40B4-BE49-F238E27FC236}">
                <a16:creationId xmlns:a16="http://schemas.microsoft.com/office/drawing/2014/main" id="{E656AAB2-BE2C-4599-951C-6A3CFFD4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UI should show confidence as screening support with a visible medical limitation statement.</a:t>
            </a:r>
          </a:p>
        </p:txBody>
      </p:sp>
      <p:sp>
        <p:nvSpPr>
          <p:cNvPr id="17" name="panel-Evaluation implication">
            <a:extLst xmlns:a="http://schemas.openxmlformats.org/drawingml/2006/main">
              <a:ext uri="{FF2B5EF4-FFF2-40B4-BE49-F238E27FC236}">
                <a16:creationId xmlns:a16="http://schemas.microsoft.com/office/drawing/2014/main" id="{6A21E48A-3B7B-4B25-BFE8-F53E7C0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0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head-Evaluation implication">
            <a:extLst xmlns:a="http://schemas.openxmlformats.org/drawingml/2006/main">
              <a:ext uri="{FF2B5EF4-FFF2-40B4-BE49-F238E27FC236}">
                <a16:creationId xmlns:a16="http://schemas.microsoft.com/office/drawing/2014/main" id="{6638B44C-67DF-4C78-B326-5EC68E00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 implication</a:t>
            </a:r>
          </a:p>
        </p:txBody>
      </p:sp>
      <p:sp>
        <p:nvSpPr>
          <p:cNvPr id="19" name="copy-Evaluation implication">
            <a:extLst xmlns:a="http://schemas.openxmlformats.org/drawingml/2006/main">
              <a:ext uri="{FF2B5EF4-FFF2-40B4-BE49-F238E27FC236}">
                <a16:creationId xmlns:a16="http://schemas.microsoft.com/office/drawing/2014/main" id="{2CE75B5C-2E34-4030-9F61-AADC8DF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Future testing should include more robustness checks and explicit subgroup analysis where data permits.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837990-0379-437B-A54F-643C2B45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Management plan, feedback response, risk and ethics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0AD188-BFA6-4C2D-8662-0C11B43A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PROJECT CONTROL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0C985D-522C-447F-9876-0BC5E030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gantt-title">
            <a:extLst xmlns:a="http://schemas.openxmlformats.org/drawingml/2006/main">
              <a:ext uri="{FF2B5EF4-FFF2-40B4-BE49-F238E27FC236}">
                <a16:creationId xmlns:a16="http://schemas.microsoft.com/office/drawing/2014/main" id="{48F55FA5-D6C9-49ED-8FEF-E2D1AD46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12-week plan and current position</a:t>
            </a:r>
          </a:p>
        </p:txBody>
      </p:sp>
      <p:sp>
        <p:nvSpPr>
          <p:cNvPr id="5" name="week-1">
            <a:extLst xmlns:a="http://schemas.openxmlformats.org/drawingml/2006/main">
              <a:ext uri="{FF2B5EF4-FFF2-40B4-BE49-F238E27FC236}">
                <a16:creationId xmlns:a16="http://schemas.microsoft.com/office/drawing/2014/main" id="{B49413DC-F166-4C17-B60B-6178B67C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week-2">
            <a:extLst xmlns:a="http://schemas.openxmlformats.org/drawingml/2006/main">
              <a:ext uri="{FF2B5EF4-FFF2-40B4-BE49-F238E27FC236}">
                <a16:creationId xmlns:a16="http://schemas.microsoft.com/office/drawing/2014/main" id="{179C0C3D-02C2-48CC-B207-4EE54DE9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week-3">
            <a:extLst xmlns:a="http://schemas.openxmlformats.org/drawingml/2006/main">
              <a:ext uri="{FF2B5EF4-FFF2-40B4-BE49-F238E27FC236}">
                <a16:creationId xmlns:a16="http://schemas.microsoft.com/office/drawing/2014/main" id="{F5BC9394-43FC-4F80-9F9D-E7AB9AF7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week-4">
            <a:extLst xmlns:a="http://schemas.openxmlformats.org/drawingml/2006/main">
              <a:ext uri="{FF2B5EF4-FFF2-40B4-BE49-F238E27FC236}">
                <a16:creationId xmlns:a16="http://schemas.microsoft.com/office/drawing/2014/main" id="{FB7A836D-B8B3-48AB-B1C1-D5B07337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week-5">
            <a:extLst xmlns:a="http://schemas.openxmlformats.org/drawingml/2006/main">
              <a:ext uri="{FF2B5EF4-FFF2-40B4-BE49-F238E27FC236}">
                <a16:creationId xmlns:a16="http://schemas.microsoft.com/office/drawing/2014/main" id="{7EC0AA72-4D90-42DB-9992-2C98CA1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week-6">
            <a:extLst xmlns:a="http://schemas.openxmlformats.org/drawingml/2006/main">
              <a:ext uri="{FF2B5EF4-FFF2-40B4-BE49-F238E27FC236}">
                <a16:creationId xmlns:a16="http://schemas.microsoft.com/office/drawing/2014/main" id="{F3A3777E-A44B-474D-AFFC-55E26925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week-7">
            <a:extLst xmlns:a="http://schemas.openxmlformats.org/drawingml/2006/main">
              <a:ext uri="{FF2B5EF4-FFF2-40B4-BE49-F238E27FC236}">
                <a16:creationId xmlns:a16="http://schemas.microsoft.com/office/drawing/2014/main" id="{19751C42-3598-4355-8C28-CF78A895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week-8">
            <a:extLst xmlns:a="http://schemas.openxmlformats.org/drawingml/2006/main">
              <a:ext uri="{FF2B5EF4-FFF2-40B4-BE49-F238E27FC236}">
                <a16:creationId xmlns:a16="http://schemas.microsoft.com/office/drawing/2014/main" id="{4AF60B41-1BFD-44CA-B357-E8B13DA3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week-9">
            <a:extLst xmlns:a="http://schemas.openxmlformats.org/drawingml/2006/main">
              <a:ext uri="{FF2B5EF4-FFF2-40B4-BE49-F238E27FC236}">
                <a16:creationId xmlns:a16="http://schemas.microsoft.com/office/drawing/2014/main" id="{E91A0CD3-B8D8-4160-A40C-6D5C48B4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week-10">
            <a:extLst xmlns:a="http://schemas.openxmlformats.org/drawingml/2006/main">
              <a:ext uri="{FF2B5EF4-FFF2-40B4-BE49-F238E27FC236}">
                <a16:creationId xmlns:a16="http://schemas.microsoft.com/office/drawing/2014/main" id="{26AB7D55-4493-40FB-B25D-82A8AC6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week-11">
            <a:extLst xmlns:a="http://schemas.openxmlformats.org/drawingml/2006/main">
              <a:ext uri="{FF2B5EF4-FFF2-40B4-BE49-F238E27FC236}">
                <a16:creationId xmlns:a16="http://schemas.microsoft.com/office/drawing/2014/main" id="{59CC22A3-147E-4497-96F4-1F63B3F3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week-12">
            <a:extLst xmlns:a="http://schemas.openxmlformats.org/drawingml/2006/main">
              <a:ext uri="{FF2B5EF4-FFF2-40B4-BE49-F238E27FC236}">
                <a16:creationId xmlns:a16="http://schemas.microsoft.com/office/drawing/2014/main" id="{D256E653-3A88-422B-8EF1-9ABBCE29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2573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gantt-label-0">
            <a:extLst xmlns:a="http://schemas.openxmlformats.org/drawingml/2006/main">
              <a:ext uri="{FF2B5EF4-FFF2-40B4-BE49-F238E27FC236}">
                <a16:creationId xmlns:a16="http://schemas.microsoft.com/office/drawing/2014/main" id="{F59B8141-E913-408B-8492-F5D40EE2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Research + dataset</a:t>
            </a:r>
          </a:p>
        </p:txBody>
      </p:sp>
      <p:sp>
        <p:nvSpPr>
          <p:cNvPr id="18" name="gantt-bar-0">
            <a:extLst xmlns:a="http://schemas.openxmlformats.org/drawingml/2006/main">
              <a:ext uri="{FF2B5EF4-FFF2-40B4-BE49-F238E27FC236}">
                <a16:creationId xmlns:a16="http://schemas.microsoft.com/office/drawing/2014/main" id="{C3AE3F42-2CFF-407D-88D2-3FDBB660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478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19" name="gantt-label-1">
            <a:extLst xmlns:a="http://schemas.openxmlformats.org/drawingml/2006/main">
              <a:ext uri="{FF2B5EF4-FFF2-40B4-BE49-F238E27FC236}">
                <a16:creationId xmlns:a16="http://schemas.microsoft.com/office/drawing/2014/main" id="{8484E67D-5F79-4E88-9BB7-B97E7796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Baseline + fusion model</a:t>
            </a:r>
          </a:p>
        </p:txBody>
      </p:sp>
      <p:sp>
        <p:nvSpPr>
          <p:cNvPr id="20" name="gantt-bar-1">
            <a:extLst xmlns:a="http://schemas.openxmlformats.org/drawingml/2006/main">
              <a:ext uri="{FF2B5EF4-FFF2-40B4-BE49-F238E27FC236}">
                <a16:creationId xmlns:a16="http://schemas.microsoft.com/office/drawing/2014/main" id="{B87D9E03-D6A5-41BE-AAFD-1E270C71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7350"/>
            <a:ext cx="1323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1" name="gantt-label-2">
            <a:extLst xmlns:a="http://schemas.openxmlformats.org/drawingml/2006/main">
              <a:ext uri="{FF2B5EF4-FFF2-40B4-BE49-F238E27FC236}">
                <a16:creationId xmlns:a16="http://schemas.microsoft.com/office/drawing/2014/main" id="{857D611D-DC41-4870-8525-8DD39B41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Evaluation + figures</a:t>
            </a:r>
          </a:p>
        </p:txBody>
      </p:sp>
      <p:sp>
        <p:nvSpPr>
          <p:cNvPr id="22" name="gantt-bar-2">
            <a:extLst xmlns:a="http://schemas.openxmlformats.org/drawingml/2006/main">
              <a:ext uri="{FF2B5EF4-FFF2-40B4-BE49-F238E27FC236}">
                <a16:creationId xmlns:a16="http://schemas.microsoft.com/office/drawing/2014/main" id="{E156939A-7E01-4480-9B84-5588C423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3" name="gantt-label-3">
            <a:extLst xmlns:a="http://schemas.openxmlformats.org/drawingml/2006/main">
              <a:ext uri="{FF2B5EF4-FFF2-40B4-BE49-F238E27FC236}">
                <a16:creationId xmlns:a16="http://schemas.microsoft.com/office/drawing/2014/main" id="{5BEC8744-0D96-46DB-A63B-37F2ADF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Backend + app integration</a:t>
            </a:r>
          </a:p>
        </p:txBody>
      </p:sp>
      <p:sp>
        <p:nvSpPr>
          <p:cNvPr id="24" name="gantt-bar-3">
            <a:extLst xmlns:a="http://schemas.openxmlformats.org/drawingml/2006/main">
              <a:ext uri="{FF2B5EF4-FFF2-40B4-BE49-F238E27FC236}">
                <a16:creationId xmlns:a16="http://schemas.microsoft.com/office/drawing/2014/main" id="{4136CE8F-0DD7-40D1-95E3-D539584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323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DBD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5" name="gantt-label-4">
            <a:extLst xmlns:a="http://schemas.openxmlformats.org/drawingml/2006/main">
              <a:ext uri="{FF2B5EF4-FFF2-40B4-BE49-F238E27FC236}">
                <a16:creationId xmlns:a16="http://schemas.microsoft.com/office/drawing/2014/main" id="{345D4A80-6582-4F46-9763-EB483E97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Testing + report</a:t>
            </a:r>
          </a:p>
        </p:txBody>
      </p:sp>
      <p:sp>
        <p:nvSpPr>
          <p:cNvPr id="26" name="gantt-bar-4">
            <a:extLst xmlns:a="http://schemas.openxmlformats.org/drawingml/2006/main">
              <a:ext uri="{FF2B5EF4-FFF2-40B4-BE49-F238E27FC236}">
                <a16:creationId xmlns:a16="http://schemas.microsoft.com/office/drawing/2014/main" id="{D50DEAB5-AADB-42CE-B51F-F6A783FD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86000"/>
            <a:ext cx="1323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FAF"/>
          </a:solidFill>
          <a:ln xmlns:a="http://schemas.openxmlformats.org/drawingml/2006/main" w="4763">
            <a:solidFill>
              <a:srgbClr val="B8B8B8"/>
            </a:solidFill>
            <a:prstDash val="solid"/>
          </a:ln>
        </p:spPr>
      </p:sp>
      <p:sp>
        <p:nvSpPr>
          <p:cNvPr id="27" name="current-marker">
            <a:extLst xmlns:a="http://schemas.openxmlformats.org/drawingml/2006/main">
              <a:ext uri="{FF2B5EF4-FFF2-40B4-BE49-F238E27FC236}">
                <a16:creationId xmlns:a16="http://schemas.microsoft.com/office/drawing/2014/main" id="{98B28C33-964D-4C7A-947D-DD7A1007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39065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A1F1F"/>
            </a:solidFill>
            <a:prstDash val="dash"/>
          </a:ln>
        </p:spPr>
      </p:sp>
      <p:sp>
        <p:nvSpPr>
          <p:cNvPr id="28" name="panel-Plan refinements after review">
            <a:extLst xmlns:a="http://schemas.openxmlformats.org/drawingml/2006/main">
              <a:ext uri="{FF2B5EF4-FFF2-40B4-BE49-F238E27FC236}">
                <a16:creationId xmlns:a16="http://schemas.microsoft.com/office/drawing/2014/main" id="{A50585C7-8C18-49BC-99CD-4AC9B6A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33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head-Plan refinements after review">
            <a:extLst xmlns:a="http://schemas.openxmlformats.org/drawingml/2006/main">
              <a:ext uri="{FF2B5EF4-FFF2-40B4-BE49-F238E27FC236}">
                <a16:creationId xmlns:a16="http://schemas.microsoft.com/office/drawing/2014/main" id="{8D848332-FCF8-4C7F-A88F-3AD823DC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 refinements after review</a:t>
            </a:r>
          </a:p>
        </p:txBody>
      </p:sp>
      <p:sp>
        <p:nvSpPr>
          <p:cNvPr id="30" name="copy-Plan refinements after review">
            <a:extLst xmlns:a="http://schemas.openxmlformats.org/drawingml/2006/main">
              <a:ext uri="{FF2B5EF4-FFF2-40B4-BE49-F238E27FC236}">
                <a16:creationId xmlns:a16="http://schemas.microsoft.com/office/drawing/2014/main" id="{56392E3D-3888-4A5A-B92F-D589EBA2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105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Scope narrowed to a backend PyTorch deployment for mid-term stability; ONNX/local inference moved to future work; baseline comparison kept central.</a:t>
            </a:r>
          </a:p>
        </p:txBody>
      </p:sp>
      <p:sp>
        <p:nvSpPr>
          <p:cNvPr id="31" name="panel-Main risks">
            <a:extLst xmlns:a="http://schemas.openxmlformats.org/drawingml/2006/main">
              <a:ext uri="{FF2B5EF4-FFF2-40B4-BE49-F238E27FC236}">
                <a16:creationId xmlns:a16="http://schemas.microsoft.com/office/drawing/2014/main" id="{3D0C4DC6-C153-420C-B5BD-4EFDD0A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2333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2" name="head-Main risks">
            <a:extLst xmlns:a="http://schemas.openxmlformats.org/drawingml/2006/main">
              <a:ext uri="{FF2B5EF4-FFF2-40B4-BE49-F238E27FC236}">
                <a16:creationId xmlns:a16="http://schemas.microsoft.com/office/drawing/2014/main" id="{68B283E7-BA92-4F08-AC6A-1AED372E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 risks</a:t>
            </a:r>
          </a:p>
        </p:txBody>
      </p:sp>
      <p:sp>
        <p:nvSpPr>
          <p:cNvPr id="33" name="copy-Main risks">
            <a:extLst xmlns:a="http://schemas.openxmlformats.org/drawingml/2006/main">
              <a:ext uri="{FF2B5EF4-FFF2-40B4-BE49-F238E27FC236}">
                <a16:creationId xmlns:a16="http://schemas.microsoft.com/office/drawing/2014/main" id="{C533F89F-112D-4F29-846F-2256E5B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2105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Class imbalance, overfitting, preprocessing mismatch, missing metadata and user misunderstanding of medical output.</a:t>
            </a:r>
          </a:p>
        </p:txBody>
      </p:sp>
      <p:sp>
        <p:nvSpPr>
          <p:cNvPr id="34" name="panel-Ethics controls">
            <a:extLst xmlns:a="http://schemas.openxmlformats.org/drawingml/2006/main">
              <a:ext uri="{FF2B5EF4-FFF2-40B4-BE49-F238E27FC236}">
                <a16:creationId xmlns:a16="http://schemas.microsoft.com/office/drawing/2014/main" id="{5CC84CFD-1467-4626-A94B-BDBC6A3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333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head-Ethics controls">
            <a:extLst xmlns:a="http://schemas.openxmlformats.org/drawingml/2006/main">
              <a:ext uri="{FF2B5EF4-FFF2-40B4-BE49-F238E27FC236}">
                <a16:creationId xmlns:a16="http://schemas.microsoft.com/office/drawing/2014/main" id="{9F0CA30C-4F0C-48B8-B3D2-EADBA26F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Ethics controls</a:t>
            </a:r>
          </a:p>
        </p:txBody>
      </p:sp>
      <p:sp>
        <p:nvSpPr>
          <p:cNvPr id="36" name="copy-Ethics controls">
            <a:extLst xmlns:a="http://schemas.openxmlformats.org/drawingml/2006/main">
              <a:ext uri="{FF2B5EF4-FFF2-40B4-BE49-F238E27FC236}">
                <a16:creationId xmlns:a16="http://schemas.microsoft.com/office/drawing/2014/main" id="{0011DC2B-ED2E-4578-A6B8-6120944F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05125"/>
            <a:ext cx="2105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Use public research data only, store prototype history locally, avoid diagnostic claims and include a medical disclaimer.</a:t>
            </a:r>
          </a:p>
        </p:txBody>
      </p:sp>
      <p:sp>
        <p:nvSpPr>
          <p:cNvPr id="3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3A99D1B-2122-4C47-B8FD-A12F0764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Project log-book risk assessment, ethics assessment and management plan.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83C9B0-201F-4BAB-8916-D525AD83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766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Conclusion and references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9B60AF6-6C3F-4D0A-B459-4692D49D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0C0875-14D5-45F5-A5C0-7527779E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conclusion">
            <a:extLst xmlns:a="http://schemas.openxmlformats.org/drawingml/2006/main">
              <a:ext uri="{FF2B5EF4-FFF2-40B4-BE49-F238E27FC236}">
                <a16:creationId xmlns:a16="http://schemas.microsoft.com/office/drawing/2014/main" id="{FC76BF9E-E083-4AA7-BE00-07A579C9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3810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Mid-term conclusion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The end-to-end prototype is substantially implemented.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Multi-modal fusion improves key validation metrics over the image-only baseline.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The remaining work is evaluation polish, app testing, report writing and deployment extension.</a:t>
            </a:r>
          </a:p>
        </p:txBody>
      </p:sp>
      <p:sp>
        <p:nvSpPr>
          <p:cNvPr id="5" name="panel-What still needs to be achieved">
            <a:extLst xmlns:a="http://schemas.openxmlformats.org/drawingml/2006/main">
              <a:ext uri="{FF2B5EF4-FFF2-40B4-BE49-F238E27FC236}">
                <a16:creationId xmlns:a16="http://schemas.microsoft.com/office/drawing/2014/main" id="{586B8857-5BBF-49A6-95A1-ACDE6115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954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head-What still needs to be achieved">
            <a:extLst xmlns:a="http://schemas.openxmlformats.org/drawingml/2006/main">
              <a:ext uri="{FF2B5EF4-FFF2-40B4-BE49-F238E27FC236}">
                <a16:creationId xmlns:a16="http://schemas.microsoft.com/office/drawing/2014/main" id="{1736259E-F6CC-4741-9C8E-36036735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906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still needs to be achieved</a:t>
            </a:r>
          </a:p>
        </p:txBody>
      </p:sp>
      <p:sp>
        <p:nvSpPr>
          <p:cNvPr id="7" name="copy-What still needs to be achieved">
            <a:extLst xmlns:a="http://schemas.openxmlformats.org/drawingml/2006/main">
              <a:ext uri="{FF2B5EF4-FFF2-40B4-BE49-F238E27FC236}">
                <a16:creationId xmlns:a16="http://schemas.microsoft.com/office/drawing/2014/main" id="{88909634-16D7-4379-A70B-C8FC6847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287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Select an operating threshold, add stronger app testing evidence, finalise dissertation figures, and decide whether ONNX/local inference is included as an extension.</a:t>
            </a:r>
          </a:p>
        </p:txBody>
      </p:sp>
      <p:sp>
        <p:nvSpPr>
          <p:cNvPr id="8" name="refs">
            <a:extLst xmlns:a="http://schemas.openxmlformats.org/drawingml/2006/main">
              <a:ext uri="{FF2B5EF4-FFF2-40B4-BE49-F238E27FC236}">
                <a16:creationId xmlns:a16="http://schemas.microsoft.com/office/drawing/2014/main" id="{700310E9-335B-400C-AD46-D001F76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3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He, K. et al. (2016) Deep Residual Learning for Image Recognition. CVPR.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Esteva, A. et al. (2017) Dermatologist-level classification of skin cancer with deep neural networks. Nature.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ISIC Challenge Datasets. International Skin Imaging Collaboration.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Results from the 2020 SIIM-ISIC Melanoma Classification Challenge. Open access article.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Project source code, log-book and formal experiment CSV outputs.</a:t>
            </a:r>
          </a:p>
        </p:txBody>
      </p:sp>
    </p:spTree>
    <p:extLst>
      <p:ext uri="{BB962C8B-B14F-4D97-AF65-F5344CB8AC3E}">
        <p14:creationId xmlns:p14="http://schemas.microsoft.com/office/powerpoint/2010/main" val="878523975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Default Design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2026-06-18T14:51:30.0890000Z</dcterms:created>
  <dcterms:modified xsi:type="dcterms:W3CDTF">2026-06-18T14:51:30.0890000Z</dcterms:modified>
</coreProperties>
</file>