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introduce the project as a practical mobile auxiliary diagnosis system, not only a classification experiment. Mention the three technical pillars: ISIC2020 data, multimodal feature-level fusion, and ONNX quantization.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about 2.5 minutes here. Make clear why this is an engineering project: dataset processing, model design, evaluation, compression, and mobile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about one minute. Summarise previous work briefly, then emphasise the gap: most work focuses on classification performance, while this project also considers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about two minutes here. Explain the two input modalities, the two branches, feature-level concatenation, classifier, and ONNX deployment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you use ISIC2020 because it includes both images and metadata, which matches the multi-modal 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for methods. Mention the baseline will establish a reference point, and the fusion model will show whether metadata improves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technical deployment method and why model size and inference time matter for a mobile auxiliary diagnosis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convince the assessor that there are deliverables beyond literature review. Update the checklist before presentation with real training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TBD values and plots once the baseline training is complete. The baseline slide is essential because it supports the later comparison with feature fusion and quantization.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reflective slide. Avoid just listing progress; discuss challenges and show that your planning is realistic.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both management and use of feedback. Before presenting, replace the generic feedback boxes with your actual supervisor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in about 30 seconds. Reiterate progress, deliverables, and next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slide. Keep it as backup unless you have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B8C"/>
          </a:solidFill>
          <a:ln w="12700">
            <a:solidFill>
              <a:srgbClr val="1E5B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73952"/>
            <a:ext cx="1110996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47104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Mid-term Project Presentation | Mobile Melanoma Diagnosis System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D7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D7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C"/>
          </a:solidFill>
          <a:ln w="12700">
            <a:solidFill>
              <a:srgbClr val="F2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502920"/>
            <a:ext cx="1737360" cy="146304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172200"/>
            <a:ext cx="2377440" cy="146304"/>
          </a:xfrm>
          <a:prstGeom prst="rect">
            <a:avLst/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Mobile Auxiliary Diagnosis System for Melanoma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4672" y="22128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5B8C"/>
                </a:solidFill>
              </a:rPr>
              <a:t>Based on Multi-Modal Fusion and ONNX Quantization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3840480" cy="0"/>
          </a:xfrm>
          <a:prstGeom prst="line">
            <a:avLst/>
          </a:prstGeom>
          <a:noFill/>
          <a:ln w="38100">
            <a:solidFill>
              <a:srgbClr val="C46A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</a:rPr>
              <a:t>Mid-term Project Presentation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675888"/>
            <a:ext cx="50292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</a:rPr>
              <a:t>Pengcheng Sun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</a:rPr>
              <a:t>Supervisor: [to be inserted]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</a:rPr>
              <a:t>Dataset: ISIC2020 | Backbone: ResNet50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29400" y="3337560"/>
            <a:ext cx="4526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240">
            <a:solidFill>
              <a:srgbClr val="1E5B8C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93992" y="3483864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Core idea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93992" y="3840480"/>
            <a:ext cx="419709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Combine dermoscopic images and clinical metadata, then optimize the trained model for mobile inference using ONNX quantization.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5074920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970">
            <a:solidFill>
              <a:srgbClr val="1E5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5143500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5B8C"/>
                </a:solidFill>
              </a:rPr>
              <a:t>ISIC2020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202168" y="5074920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970">
            <a:solidFill>
              <a:srgbClr val="2E7D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5143500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E7D57"/>
                </a:solidFill>
              </a:rPr>
              <a:t>ResNet50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9692640" y="5074920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970">
            <a:solidFill>
              <a:srgbClr val="C46A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56648" y="5143500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6A24"/>
                </a:solidFill>
              </a:rPr>
              <a:t>Feature Fusion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Aims, Significance and Engineering Context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</a:rPr>
              <a:t>Problem motivation, stakeholders and engineering constraints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1E5B8C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49961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</a:rPr>
              <a:t>Aim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0392" y="1856232"/>
            <a:ext cx="332841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Develop a mobile auxiliary melanoma diagnosis prototype that predicts melanoma risk from skin lesion images and clinical metadata.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353312"/>
            <a:ext cx="347472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C46A24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90872" y="149961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</a:rPr>
              <a:t>Significance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90872" y="1856232"/>
            <a:ext cx="314553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Melanoma is clinically important because early detection can strongly influence treatment decisions and patient outcomes.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83880" y="1353312"/>
            <a:ext cx="32918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2E7D57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48472" y="1499616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</a:rPr>
              <a:t>Engineering context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48472" y="1856232"/>
            <a:ext cx="296265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The system must balance diagnostic performance, model size, inference latency and deployability on mobile devices.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310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B5B"/>
                </a:solidFill>
              </a:rPr>
              <a:t>Stakeholders and constraints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3703320"/>
            <a:ext cx="50292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 and clinicians benefit from accessible preliminary screening support</a:t>
            </a:r>
            <a:endParaRPr lang="en-US" sz="1300" dirty="0"/>
          </a:p>
          <a:p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an auxiliary tool, not a replacement for professional diagnosis</a:t>
            </a:r>
            <a:endParaRPr lang="en-US" sz="1300" dirty="0"/>
          </a:p>
          <a:p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Ethics, risk assessment, data privacy and bias must be considered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310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B5B"/>
                </a:solidFill>
              </a:rPr>
              <a:t>Target outcome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3703320"/>
            <a:ext cx="4663440" cy="1325880"/>
          </a:xfrm>
          <a:prstGeom prst="roundRect">
            <a:avLst>
              <a:gd name="adj" fmla="val 6207"/>
            </a:avLst>
          </a:prstGeom>
          <a:solidFill>
            <a:srgbClr val="EEF3F7"/>
          </a:solidFill>
          <a:ln w="15240">
            <a:solidFill>
              <a:srgbClr val="153B5B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65392" y="3849624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3040"/>
                </a:solidFill>
              </a:rPr>
              <a:t>Deliverable by the end of the project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4206240"/>
            <a:ext cx="4334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A trained and evaluated multi-modal model, exported to ONNX, quantized to INT8, and integrated into a mobile inference workflow.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D7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Previous Work and Project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</a:rPr>
              <a:t>Literature and design choices that motivate the proposed solution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335024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DCEEFF"/>
          </a:solidFill>
          <a:ln w="15240">
            <a:solidFill>
              <a:srgbClr val="1E5B8C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48132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3040"/>
                </a:solidFill>
              </a:rPr>
              <a:t>CNN skin lesion classification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1837944"/>
            <a:ext cx="319125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6D7E"/>
                </a:solidFill>
              </a:rPr>
              <a:t>Deep CNNs such as ResNet have become a common baseline for dermoscopic image classification because they learn hierarchical visual features.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4434840" y="1335024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3F4EA"/>
          </a:solidFill>
          <a:ln w="15240">
            <a:solidFill>
              <a:srgbClr val="2E7D57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148132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3040"/>
                </a:solidFill>
              </a:rPr>
              <a:t>Clinical context matters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9432" y="1837944"/>
            <a:ext cx="319125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6D7E"/>
                </a:solidFill>
              </a:rPr>
              <a:t>Clinical metadata such as age, sex and anatomical site can provide complementary information to visual features.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183880" y="1335024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FCEAD8"/>
          </a:solidFill>
          <a:ln w="15240">
            <a:solidFill>
              <a:srgbClr val="C46A24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48472" y="148132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3040"/>
                </a:solidFill>
              </a:rPr>
              <a:t>Deployment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48472" y="1837944"/>
            <a:ext cx="300837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6D7E"/>
                </a:solidFill>
              </a:rPr>
              <a:t>High-performing models can be too large or slow for mobile use, so model conversion and quantization are required.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1E5B8C"/>
          </a:solidFill>
          <a:ln w="12700">
            <a:solidFill>
              <a:srgbClr val="1E5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429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Image 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27248" y="3529584"/>
            <a:ext cx="210312" cy="0"/>
          </a:xfrm>
          <a:prstGeom prst="line">
            <a:avLst/>
          </a:prstGeom>
          <a:noFill/>
          <a:ln w="20320">
            <a:solidFill>
              <a:srgbClr val="5D6D7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29000" y="324612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2E7D57"/>
          </a:solidFill>
          <a:ln w="12700">
            <a:solidFill>
              <a:srgbClr val="2E7D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3429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 Metadata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41848" y="3529584"/>
            <a:ext cx="210312" cy="0"/>
          </a:xfrm>
          <a:prstGeom prst="line">
            <a:avLst/>
          </a:prstGeom>
          <a:noFill/>
          <a:ln w="20320">
            <a:solidFill>
              <a:srgbClr val="5D6D7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43600" y="324612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C46A24"/>
          </a:solidFill>
          <a:ln w="12700">
            <a:solidFill>
              <a:srgbClr val="C46A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34290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 Quantization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6448" y="3529584"/>
            <a:ext cx="210312" cy="0"/>
          </a:xfrm>
          <a:prstGeom prst="line">
            <a:avLst/>
          </a:prstGeom>
          <a:noFill/>
          <a:ln w="20320">
            <a:solidFill>
              <a:srgbClr val="5D6D7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58200" y="324612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6B4BA3"/>
          </a:solidFill>
          <a:ln w="12700">
            <a:solidFill>
              <a:srgbClr val="6B4B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41664" y="34290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Mobile demo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51560" y="4526280"/>
            <a:ext cx="10058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153B5B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16152" y="4672584"/>
            <a:ext cx="9729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3040"/>
                </a:solidFill>
              </a:rPr>
              <a:t>Project gap addressed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16152" y="5029200"/>
            <a:ext cx="97292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This project combines diagnostic accuracy and deployability: a multi-modal melanoma classifier is designed and then compressed for mobile inference.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D7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Overview of the Design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</a:rPr>
              <a:t>System-level flow from data to mobile deployment</a:t>
            </a:r>
            <a:endParaRPr lang="en-US" sz="1350" dirty="0"/>
          </a:p>
        </p:txBody>
      </p:sp>
      <p:pic>
        <p:nvPicPr>
          <p:cNvPr id="4" name="Image 0" descr="/mnt/data/melanoma_multimodal_stru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4881" y="1225296"/>
            <a:ext cx="8511758" cy="4965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61996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i="1" dirty="0">
                <a:solidFill>
                  <a:srgbClr val="5D6D7E"/>
                </a:solidFill>
              </a:rPr>
              <a:t>Architecture name: ResNet50-MLP Multimodal Feature-Level Fusion Network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D7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Dataset and Preprocessing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</a:rPr>
              <a:t>ISIC2020 images and clinical metadata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307592"/>
            <a:ext cx="3017520" cy="960120"/>
          </a:xfrm>
          <a:prstGeom prst="roundRect">
            <a:avLst>
              <a:gd name="adj" fmla="val 8571"/>
            </a:avLst>
          </a:prstGeom>
          <a:solidFill>
            <a:srgbClr val="DCEEFF"/>
          </a:solidFill>
          <a:ln w="15240">
            <a:solidFill>
              <a:srgbClr val="1E5B8C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453896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Input data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1810512"/>
            <a:ext cx="26883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D6D7E"/>
                </a:solidFill>
              </a:rPr>
              <a:t>ISIC2020 dermoscopic lesion images with patient metadata.</a:t>
            </a:r>
            <a:endParaRPr lang="en-US" sz="1160" dirty="0"/>
          </a:p>
        </p:txBody>
      </p:sp>
      <p:sp>
        <p:nvSpPr>
          <p:cNvPr id="7" name="Shape 5"/>
          <p:cNvSpPr/>
          <p:nvPr/>
        </p:nvSpPr>
        <p:spPr>
          <a:xfrm>
            <a:off x="3931920" y="1307592"/>
            <a:ext cx="3017520" cy="960120"/>
          </a:xfrm>
          <a:prstGeom prst="roundRect">
            <a:avLst>
              <a:gd name="adj" fmla="val 8571"/>
            </a:avLst>
          </a:prstGeom>
          <a:solidFill>
            <a:srgbClr val="FCEAD8"/>
          </a:solidFill>
          <a:ln w="15240">
            <a:solidFill>
              <a:srgbClr val="C46A24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096512" y="1453896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Target label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96512" y="1810512"/>
            <a:ext cx="26883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D6D7E"/>
                </a:solidFill>
              </a:rPr>
              <a:t>Binary classification: melanoma vs benign / non-melanoma.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7178040" y="1307592"/>
            <a:ext cx="3657600" cy="960120"/>
          </a:xfrm>
          <a:prstGeom prst="roundRect">
            <a:avLst>
              <a:gd name="adj" fmla="val 8571"/>
            </a:avLst>
          </a:prstGeom>
          <a:solidFill>
            <a:srgbClr val="E3F4EA"/>
          </a:solidFill>
          <a:ln w="15240">
            <a:solidFill>
              <a:srgbClr val="2E7D57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42632" y="145389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Clinical features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42632" y="1810512"/>
            <a:ext cx="33284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D6D7E"/>
                </a:solidFill>
              </a:rPr>
              <a:t>age_approx, sex, anatomical_site_general_challenge.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B5B"/>
                </a:solidFill>
              </a:rPr>
              <a:t>Image preprocessing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3182112"/>
            <a:ext cx="384048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Resize to 224 x 224</a:t>
            </a:r>
            <a:endParaRPr lang="en-US" sz="1250" dirty="0"/>
          </a:p>
          <a:p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 with ImageNet statistics</a:t>
            </a:r>
            <a:endParaRPr lang="en-US" sz="1250" dirty="0"/>
          </a:p>
          <a:p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augmentation: flip, rotation, colour jitter</a:t>
            </a:r>
            <a:endParaRPr lang="en-US" sz="1250" dirty="0"/>
          </a:p>
          <a:p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validation / test split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577840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B5B"/>
                </a:solidFill>
              </a:rPr>
              <a:t>Metadata preprocessing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69280" y="3182112"/>
            <a:ext cx="45720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normalization</a:t>
            </a:r>
            <a:endParaRPr lang="en-US" sz="1250" dirty="0"/>
          </a:p>
          <a:p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Sex: one-hot encoding</a:t>
            </a:r>
            <a:endParaRPr lang="en-US" sz="1250" dirty="0"/>
          </a:p>
          <a:p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Anatomical site: one-hot encoding</a:t>
            </a:r>
            <a:endParaRPr lang="en-US" sz="1250" dirty="0"/>
          </a:p>
          <a:p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values: imputation or unknown category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828800" y="5212080"/>
            <a:ext cx="841248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5240">
            <a:solidFill>
              <a:srgbClr val="B54A3A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993392" y="5358384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Key issue to handle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993392" y="5715000"/>
            <a:ext cx="8083296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6D7E"/>
                </a:solidFill>
              </a:rPr>
              <a:t>Class imbalance in melanoma classification requires careful evaluation using AUC, recall and F1-score, not accuracy only.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D7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Methods and Justification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</a:rPr>
              <a:t>ResNet50 baseline and multi-modal feature-level fusion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3246120" cy="1143000"/>
          </a:xfrm>
          <a:prstGeom prst="roundRect">
            <a:avLst>
              <a:gd name="adj" fmla="val 7200"/>
            </a:avLst>
          </a:prstGeom>
          <a:solidFill>
            <a:srgbClr val="DCEEFF"/>
          </a:solidFill>
          <a:ln w="15240">
            <a:solidFill>
              <a:srgbClr val="1E5B8C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38074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</a:rPr>
              <a:t>Baseline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1737360"/>
            <a:ext cx="29169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Image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ResNet50 -&gt; global average pooling -&gt; FC classifier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234440"/>
            <a:ext cx="3246120" cy="1143000"/>
          </a:xfrm>
          <a:prstGeom prst="roundRect">
            <a:avLst>
              <a:gd name="adj" fmla="val 7200"/>
            </a:avLst>
          </a:prstGeom>
          <a:solidFill>
            <a:srgbClr val="E3F4EA"/>
          </a:solidFill>
          <a:ln w="15240">
            <a:solidFill>
              <a:srgbClr val="2E7D57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90872" y="138074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</a:rPr>
              <a:t>Clinical branch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90872" y="1737360"/>
            <a:ext cx="29169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Metadata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Normalized / encoded clinical vector -&gt; lightweight MLP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234440"/>
            <a:ext cx="3246120" cy="1143000"/>
          </a:xfrm>
          <a:prstGeom prst="roundRect">
            <a:avLst>
              <a:gd name="adj" fmla="val 7200"/>
            </a:avLst>
          </a:prstGeom>
          <a:solidFill>
            <a:srgbClr val="FCEAD8"/>
          </a:solidFill>
          <a:ln w="15240">
            <a:solidFill>
              <a:srgbClr val="C46A24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94192" y="138074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</a:rPr>
              <a:t>Fusion classifier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94192" y="1737360"/>
            <a:ext cx="29169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Image feature 2048-d + clinical feature 128-d -&gt; concatenation -&gt; FC classifier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23160" y="2651760"/>
            <a:ext cx="0" cy="621792"/>
          </a:xfrm>
          <a:prstGeom prst="line">
            <a:avLst/>
          </a:prstGeom>
          <a:noFill/>
          <a:ln w="27940">
            <a:solidFill>
              <a:srgbClr val="1E5B8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0" y="2651760"/>
            <a:ext cx="0" cy="621792"/>
          </a:xfrm>
          <a:prstGeom prst="line">
            <a:avLst/>
          </a:prstGeom>
          <a:noFill/>
          <a:ln w="27940">
            <a:solidFill>
              <a:srgbClr val="2E7D5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829800" y="2651760"/>
            <a:ext cx="0" cy="621792"/>
          </a:xfrm>
          <a:prstGeom prst="line">
            <a:avLst/>
          </a:prstGeom>
          <a:noFill/>
          <a:ln w="27940">
            <a:solidFill>
              <a:srgbClr val="C46A2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" y="3401568"/>
            <a:ext cx="32461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240">
            <a:solidFill>
              <a:srgbClr val="1E5B8C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7552" y="354787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3040"/>
                </a:solidFill>
              </a:rPr>
              <a:t>Why ResNet50?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7552" y="3904488"/>
            <a:ext cx="291693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D7E"/>
                </a:solidFill>
              </a:rPr>
              <a:t>Strong and well-understood CNN backbone; suitable as a reliable baseline for skin lesion image classification.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4526280" y="3401568"/>
            <a:ext cx="32461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240">
            <a:solidFill>
              <a:srgbClr val="2E7D57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90872" y="354787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3040"/>
                </a:solidFill>
              </a:rPr>
              <a:t>Why feature-level fusion?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90872" y="3904488"/>
            <a:ext cx="291693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D7E"/>
                </a:solidFill>
              </a:rPr>
              <a:t>Combines high-level visual features and structured clinical context before classification, while staying simple and ONNX-compatible.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8229600" y="3401568"/>
            <a:ext cx="32461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240">
            <a:solidFill>
              <a:srgbClr val="C46A24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94192" y="354787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3040"/>
                </a:solidFill>
              </a:rPr>
              <a:t>Why not attention first?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94192" y="3904488"/>
            <a:ext cx="291693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D7E"/>
                </a:solidFill>
              </a:rPr>
              <a:t>Attention can be explored later, but it increases complexity and mobile deployment risk at mid-project stage.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1828800" y="5321808"/>
            <a:ext cx="8549640" cy="530352"/>
          </a:xfrm>
          <a:prstGeom prst="roundRect">
            <a:avLst>
              <a:gd name="adj" fmla="val 13793"/>
            </a:avLst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5486400"/>
            <a:ext cx="8183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Selected strategy: Feature-Level Fusion / Mid-Level Fusion based on feature concatenation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D7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ONNX Quantization and Mobile Deployment Method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</a:rPr>
              <a:t>Path from trained PyTorch model to mobile inference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20320">
            <a:solidFill>
              <a:srgbClr val="1E5B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984248"/>
            <a:ext cx="2093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E5B8C"/>
                </a:solidFill>
              </a:rPr>
              <a:t>PyTorch training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905256" y="235915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D6D7E"/>
                </a:solidFill>
              </a:rPr>
              <a:t>Train baseline and fusion models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3108960" y="2350008"/>
            <a:ext cx="347472" cy="0"/>
          </a:xfrm>
          <a:prstGeom prst="line">
            <a:avLst/>
          </a:prstGeom>
          <a:noFill/>
          <a:ln w="22860">
            <a:solidFill>
              <a:srgbClr val="5D6D7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66160" y="182880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20320">
            <a:solidFill>
              <a:srgbClr val="2E7D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1984248"/>
            <a:ext cx="2093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E7D57"/>
                </a:solidFill>
              </a:rPr>
              <a:t>ONNX export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3694176" y="235915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D6D7E"/>
                </a:solidFill>
              </a:rPr>
              <a:t>Convert computational graph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897880" y="2350008"/>
            <a:ext cx="347472" cy="0"/>
          </a:xfrm>
          <a:prstGeom prst="line">
            <a:avLst/>
          </a:prstGeom>
          <a:noFill/>
          <a:ln w="22860">
            <a:solidFill>
              <a:srgbClr val="5D6D7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55080" y="182880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20320">
            <a:solidFill>
              <a:srgbClr val="C46A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984248"/>
            <a:ext cx="2093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C46A24"/>
                </a:solidFill>
              </a:rPr>
              <a:t>INT8 quantization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6483096" y="235915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D6D7E"/>
                </a:solidFill>
              </a:rPr>
              <a:t>Reduce model size and latency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686800" y="2350008"/>
            <a:ext cx="347472" cy="0"/>
          </a:xfrm>
          <a:prstGeom prst="line">
            <a:avLst/>
          </a:prstGeom>
          <a:noFill/>
          <a:ln w="22860">
            <a:solidFill>
              <a:srgbClr val="5D6D7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0" y="182880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20320">
            <a:solidFill>
              <a:srgbClr val="6B4B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2872" y="1984248"/>
            <a:ext cx="2093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6B4BA3"/>
                </a:solidFill>
              </a:rPr>
              <a:t>Mobile inference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9272016" y="235915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D6D7E"/>
                </a:solidFill>
              </a:rPr>
              <a:t>Run with ONNX Runtime Mobile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68680" y="3703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B5B"/>
                </a:solidFill>
              </a:rPr>
              <a:t>Evaluation after deployment optimisation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68680" y="4160520"/>
            <a:ext cx="3063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5240">
            <a:solidFill>
              <a:srgbClr val="1E5B8C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33272" y="430682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3040"/>
                </a:solidFill>
              </a:rPr>
              <a:t>Accuracy impact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33272" y="4663440"/>
            <a:ext cx="27340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</a:rPr>
              <a:t>Compare classification metrics before and after ONNX conversion / INT8 quantization.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4160520"/>
            <a:ext cx="3063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5240">
            <a:solidFill>
              <a:srgbClr val="2E7D57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90872" y="430682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3040"/>
                </a:solidFill>
              </a:rPr>
              <a:t>Efficiency gain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690872" y="4663440"/>
            <a:ext cx="27340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</a:rPr>
              <a:t>Measure model file size and inference latency on CPU / mobile runtime.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83880" y="4160520"/>
            <a:ext cx="3063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5240">
            <a:solidFill>
              <a:srgbClr val="C46A24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48472" y="430682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3040"/>
                </a:solidFill>
              </a:rPr>
              <a:t>Practical output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48472" y="4663440"/>
            <a:ext cx="27340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</a:rPr>
              <a:t>Prepare a mobile inference workflow or app demo for project deliverables.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D7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Results and Progress to Date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</a:rPr>
              <a:t>Tangible deliverables completed or in progress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B5B"/>
                </a:solidFill>
              </a:rPr>
              <a:t>Progress checklist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1700784"/>
            <a:ext cx="489204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96796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3040"/>
                </a:solidFill>
              </a:rPr>
              <a:t>ISIC2020 dataset selected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4407408" y="179679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7D57"/>
                </a:solidFill>
              </a:rPr>
              <a:t>Completed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77240" y="2203704"/>
            <a:ext cx="489204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99716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3040"/>
                </a:solidFill>
              </a:rPr>
              <a:t>System architecture designed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407408" y="229971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7D57"/>
                </a:solidFill>
              </a:rPr>
              <a:t>Completed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77240" y="2706624"/>
            <a:ext cx="489204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802636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3040"/>
                </a:solidFill>
              </a:rPr>
              <a:t>ResNet50 baseline implementation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407408" y="280263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C46A24"/>
                </a:solidFill>
              </a:rPr>
              <a:t>In progress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77240" y="3209544"/>
            <a:ext cx="489204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305556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3040"/>
                </a:solidFill>
              </a:rPr>
              <a:t>Clinical metadata preprocessing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407408" y="330555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C46A24"/>
                </a:solidFill>
              </a:rPr>
              <a:t>In progress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77240" y="3712464"/>
            <a:ext cx="489204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808476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3040"/>
                </a:solidFill>
              </a:rPr>
              <a:t>Feature fusion model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407408" y="38084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E5B8C"/>
                </a:solidFill>
              </a:rPr>
              <a:t>Next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77240" y="4215384"/>
            <a:ext cx="489204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311396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3040"/>
                </a:solidFill>
              </a:rPr>
              <a:t>ONNX export and quantization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407408" y="431139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E5B8C"/>
                </a:solidFill>
              </a:rPr>
              <a:t>Next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77240" y="4718304"/>
            <a:ext cx="489204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814316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3040"/>
                </a:solidFill>
              </a:rPr>
              <a:t>Mobile inference workflow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407408" y="481431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D6D7E"/>
                </a:solidFill>
              </a:rPr>
              <a:t>Planned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400800" y="1417320"/>
            <a:ext cx="4846320" cy="20574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15240">
            <a:solidFill>
              <a:srgbClr val="153B5B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65392" y="1563624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Current tangible outputs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65392" y="1920240"/>
            <a:ext cx="451713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1. Project architecture diagram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2. Defined data pipeline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3. Baseline training pipeline being prepared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4. Evaluation table template for baseline upload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5. Plan for ONNX and INT8 comparison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3886200"/>
            <a:ext cx="48463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C46A24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65392" y="4032504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3040"/>
                </a:solidFill>
              </a:rPr>
              <a:t>Evidence to show during presentation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65392" y="4389120"/>
            <a:ext cx="45171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D7E"/>
                </a:solidFill>
              </a:rPr>
              <a:t>Code screenshots, training log, sample preprocessed images, baseline loss / AUC curves, and log-book pages.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0" y="5285232"/>
            <a:ext cx="48463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54A3A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65392" y="543153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Important assessment reminder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65392" y="5788152"/>
            <a:ext cx="451713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</a:rPr>
              <a:t>Bring printed / inspectable log-book including risk assessment and ethics assessment.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D7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Baseline Training Results Placeholder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</a:rPr>
              <a:t>Leave this slide for the ResNet50 baseline results to be inserted later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13232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B5B"/>
                </a:solidFill>
              </a:rPr>
              <a:t>ResNet50 image-only baseline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4754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5240">
            <a:solidFill>
              <a:srgbClr val="1E5B8C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810512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3040"/>
                </a:solidFill>
              </a:rPr>
              <a:t>Training / validation loss curve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2167128"/>
            <a:ext cx="442569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9B5"/>
                </a:solidFill>
              </a:rPr>
              <a:t>INSERT BASELINE PLOT HERE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9B5"/>
                </a:solidFill>
              </a:rPr>
              <a:t>(loss vs epoch)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97880" y="1664208"/>
            <a:ext cx="4754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5240">
            <a:solidFill>
              <a:srgbClr val="2E7D57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62472" y="1810512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3040"/>
                </a:solidFill>
              </a:rPr>
              <a:t>AUC / accuracy curve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62472" y="2167128"/>
            <a:ext cx="442569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9B5"/>
                </a:solidFill>
              </a:rPr>
              <a:t>INSERT BASELINE PLOT HERE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9B5"/>
                </a:solidFill>
              </a:rPr>
              <a:t>(metric vs epoch)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B5B"/>
                </a:solidFill>
              </a:rPr>
              <a:t>Metrics table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4498848"/>
            <a:ext cx="1536192" cy="420624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463600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Accuracy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4919472"/>
            <a:ext cx="153619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509320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9B5"/>
                </a:solidFill>
              </a:rPr>
              <a:t>TBD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4498848"/>
            <a:ext cx="1536192" cy="420624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9464" y="463600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Precision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14600" y="4919472"/>
            <a:ext cx="153619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9464" y="509320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9B5"/>
                </a:solidFill>
              </a:rPr>
              <a:t>TBD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51960" y="4498848"/>
            <a:ext cx="1536192" cy="420624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06824" y="463600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Recall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4919472"/>
            <a:ext cx="153619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6824" y="509320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9B5"/>
                </a:solidFill>
              </a:rPr>
              <a:t>TBD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4498848"/>
            <a:ext cx="1536192" cy="420624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44184" y="463600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F1-score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4919472"/>
            <a:ext cx="153619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4184" y="509320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9B5"/>
                </a:solidFill>
              </a:rPr>
              <a:t>TBD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26680" y="4498848"/>
            <a:ext cx="1536192" cy="420624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81544" y="463600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26680" y="4919472"/>
            <a:ext cx="153619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81544" y="509320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9B5"/>
                </a:solidFill>
              </a:rPr>
              <a:t>TBD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64040" y="4498848"/>
            <a:ext cx="1536192" cy="420624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18904" y="463600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Inference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464040" y="4919472"/>
            <a:ext cx="153619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18904" y="509320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9B5"/>
                </a:solidFill>
              </a:rPr>
              <a:t>TBD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5715000"/>
            <a:ext cx="9921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</a:rPr>
              <a:t>Use this baseline to compare against the multi-modal fusion model and the quantized ONNX model.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D7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Discussion of Results and Progress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</a:rPr>
              <a:t>Critical reflection at the almost half-way stage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49808" y="1325880"/>
            <a:ext cx="3337560" cy="1325880"/>
          </a:xfrm>
          <a:prstGeom prst="roundRect">
            <a:avLst>
              <a:gd name="adj" fmla="val 6207"/>
            </a:avLst>
          </a:prstGeom>
          <a:solidFill>
            <a:srgbClr val="E3F4EA"/>
          </a:solidFill>
          <a:ln w="15240">
            <a:solidFill>
              <a:srgbClr val="2E7D57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721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What is on track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0083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D6D7E"/>
                </a:solidFill>
              </a:rPr>
              <a:t>The project scope has been narrowed to a realistic pipeline: ISIC2020, ResNet50 baseline, feature fusion, ONNX quantization.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407408" y="1325880"/>
            <a:ext cx="3337560" cy="1325880"/>
          </a:xfrm>
          <a:prstGeom prst="roundRect">
            <a:avLst>
              <a:gd name="adj" fmla="val 6207"/>
            </a:avLst>
          </a:prstGeom>
          <a:solidFill>
            <a:srgbClr val="FCEAD8"/>
          </a:solidFill>
          <a:ln w="15240">
            <a:solidFill>
              <a:srgbClr val="C46A24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4721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Main challenges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30083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D6D7E"/>
                </a:solidFill>
              </a:rPr>
              <a:t>Class imbalance, missing metadata, overfitting risk, and maintaining performance after quantization.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065008" y="1325880"/>
            <a:ext cx="3337560" cy="1325880"/>
          </a:xfrm>
          <a:prstGeom prst="roundRect">
            <a:avLst>
              <a:gd name="adj" fmla="val 6207"/>
            </a:avLst>
          </a:prstGeom>
          <a:solidFill>
            <a:srgbClr val="DCEEFF"/>
          </a:solidFill>
          <a:ln w="15240">
            <a:solidFill>
              <a:srgbClr val="1E5B8C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4721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Next technical focus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0" y="1828800"/>
            <a:ext cx="30083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D6D7E"/>
                </a:solidFill>
              </a:rPr>
              <a:t>Finish baseline results, train feature-fusion model, and measure accuracy-size-latency trade-offs.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786384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B5B"/>
                </a:solidFill>
              </a:rPr>
              <a:t>Risk mitigation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3675888"/>
            <a:ext cx="10149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785616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54A3A"/>
                </a:solidFill>
              </a:rPr>
              <a:t>Class imbalance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246120" y="3785616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40"/>
                </a:solidFill>
              </a:rPr>
              <a:t>Use AUC, recall, F1-score; consider weighted loss / sampling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68680" y="4178808"/>
            <a:ext cx="10149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288536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54A3A"/>
                </a:solidFill>
              </a:rPr>
              <a:t>Metadata missing values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3246120" y="4288536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40"/>
                </a:solidFill>
              </a:rPr>
              <a:t>Add unknown category and document preprocessing choices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868680" y="4681728"/>
            <a:ext cx="10149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791456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54A3A"/>
                </a:solidFill>
              </a:rPr>
              <a:t>Mobile constraints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3246120" y="4791456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40"/>
                </a:solidFill>
              </a:rPr>
              <a:t>Compare FP32 ONNX vs INT8 ONNX model size and latency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68680" y="5184648"/>
            <a:ext cx="10149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5294376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54A3A"/>
                </a:solidFill>
              </a:rPr>
              <a:t>Time pressure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3246120" y="5294376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40"/>
                </a:solidFill>
              </a:rPr>
              <a:t>Prioritise working baseline + fusion + ONNX over complex attention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D7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7-8. Management Plan and Use of Feedback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</a:rPr>
              <a:t>Updated plan going forward and how project-plan feedback is used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B5B"/>
                </a:solidFill>
              </a:rPr>
              <a:t>Forward plan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103120" y="1691640"/>
            <a:ext cx="713232" cy="347472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48840" y="180136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816352" y="1691640"/>
            <a:ext cx="713232" cy="347472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62072" y="180136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29584" y="1691640"/>
            <a:ext cx="713232" cy="347472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5304" y="180136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42816" y="1691640"/>
            <a:ext cx="713232" cy="347472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88536" y="180136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W4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56048" y="1691640"/>
            <a:ext cx="713232" cy="347472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180136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0" y="1691640"/>
            <a:ext cx="713232" cy="347472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80136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W6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82512" y="1691640"/>
            <a:ext cx="713232" cy="347472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180136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W7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22494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3040"/>
                </a:solidFill>
              </a:rPr>
              <a:t>Preprocessing + baseline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2103120" y="2176272"/>
            <a:ext cx="4992624" cy="256032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03120" y="2176272"/>
            <a:ext cx="1426464" cy="256032"/>
          </a:xfrm>
          <a:prstGeom prst="roundRect">
            <a:avLst>
              <a:gd name="adj" fmla="val 14286"/>
            </a:avLst>
          </a:prstGeom>
          <a:solidFill>
            <a:srgbClr val="1E5B8C"/>
          </a:solidFill>
          <a:ln w="12700">
            <a:solidFill>
              <a:srgbClr val="1E5B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75234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3040"/>
                </a:solidFill>
              </a:rPr>
              <a:t>Fusion model training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103120" y="2679192"/>
            <a:ext cx="4992624" cy="256032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16352" y="2679192"/>
            <a:ext cx="1426464" cy="256032"/>
          </a:xfrm>
          <a:prstGeom prst="roundRect">
            <a:avLst>
              <a:gd name="adj" fmla="val 14286"/>
            </a:avLst>
          </a:prstGeom>
          <a:solidFill>
            <a:srgbClr val="2E7D57"/>
          </a:solidFill>
          <a:ln w="12700">
            <a:solidFill>
              <a:srgbClr val="2E7D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25526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3040"/>
                </a:solidFill>
              </a:rPr>
              <a:t>Evaluation and analysis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103120" y="3182112"/>
            <a:ext cx="4992624" cy="256032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9584" y="3182112"/>
            <a:ext cx="1426464" cy="256032"/>
          </a:xfrm>
          <a:prstGeom prst="roundRect">
            <a:avLst>
              <a:gd name="adj" fmla="val 14286"/>
            </a:avLst>
          </a:prstGeom>
          <a:solidFill>
            <a:srgbClr val="C46A24"/>
          </a:solidFill>
          <a:ln w="12700">
            <a:solidFill>
              <a:srgbClr val="C46A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75818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3040"/>
                </a:solidFill>
              </a:rPr>
              <a:t>ONNX export + INT8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103120" y="3685032"/>
            <a:ext cx="4992624" cy="256032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42816" y="3685032"/>
            <a:ext cx="1426464" cy="256032"/>
          </a:xfrm>
          <a:prstGeom prst="roundRect">
            <a:avLst>
              <a:gd name="adj" fmla="val 14286"/>
            </a:avLst>
          </a:prstGeom>
          <a:solidFill>
            <a:srgbClr val="6B4BA3"/>
          </a:solidFill>
          <a:ln w="12700">
            <a:solidFill>
              <a:srgbClr val="6B4B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26110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3040"/>
                </a:solidFill>
              </a:rPr>
              <a:t>Mobile demo / workflow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2103120" y="4187952"/>
            <a:ext cx="4992624" cy="256032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56048" y="4187952"/>
            <a:ext cx="1426464" cy="256032"/>
          </a:xfrm>
          <a:prstGeom prst="roundRect">
            <a:avLst>
              <a:gd name="adj" fmla="val 14286"/>
            </a:avLst>
          </a:prstGeom>
          <a:solidFill>
            <a:srgbClr val="1E5B8C"/>
          </a:solidFill>
          <a:ln w="12700">
            <a:solidFill>
              <a:srgbClr val="1E5B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47640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3040"/>
                </a:solidFill>
              </a:rPr>
              <a:t>Final report and polish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103120" y="4690872"/>
            <a:ext cx="4992624" cy="256032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0" y="4690872"/>
            <a:ext cx="1426464" cy="256032"/>
          </a:xfrm>
          <a:prstGeom prst="roundRect">
            <a:avLst>
              <a:gd name="adj" fmla="val 14286"/>
            </a:avLst>
          </a:prstGeom>
          <a:solidFill>
            <a:srgbClr val="2E7D57"/>
          </a:solidFill>
          <a:ln w="12700">
            <a:solidFill>
              <a:srgbClr val="2E7D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B5B"/>
                </a:solidFill>
              </a:rPr>
              <a:t>Use of supervisor feedback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360920" y="1664208"/>
            <a:ext cx="39319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240">
            <a:solidFill>
              <a:srgbClr val="1E5B8C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525512" y="18105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03040"/>
                </a:solidFill>
              </a:rPr>
              <a:t>Feedback: keep scope achievable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7525512" y="2167128"/>
            <a:ext cx="36027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D6D7E"/>
                </a:solidFill>
              </a:rPr>
              <a:t>Action: focus on ISIC2020, ResNet50 and feature-level fusion rather than multiple complex models.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7360920" y="2788920"/>
            <a:ext cx="39319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240">
            <a:solidFill>
              <a:srgbClr val="2E7D57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525512" y="293522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03040"/>
                </a:solidFill>
              </a:rPr>
              <a:t>Feedback: show implementation evidence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7525512" y="3291840"/>
            <a:ext cx="36027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D6D7E"/>
                </a:solidFill>
              </a:rPr>
              <a:t>Action: prepare baseline results, model architecture, code screenshots and training logs.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7360920" y="3913632"/>
            <a:ext cx="39319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240">
            <a:solidFill>
              <a:srgbClr val="C46A24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525512" y="405993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03040"/>
                </a:solidFill>
              </a:rPr>
              <a:t>Feedback: measure trade-offs</a:t>
            </a:r>
            <a:endParaRPr lang="en-US" sz="1220" dirty="0"/>
          </a:p>
        </p:txBody>
      </p:sp>
      <p:sp>
        <p:nvSpPr>
          <p:cNvPr id="46" name="Text 44"/>
          <p:cNvSpPr/>
          <p:nvPr/>
        </p:nvSpPr>
        <p:spPr>
          <a:xfrm>
            <a:off x="7525512" y="4416552"/>
            <a:ext cx="36027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D6D7E"/>
                </a:solidFill>
              </a:rPr>
              <a:t>Action: compare accuracy, AUC, model size and inference time before and after quantization.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7360920" y="5102352"/>
            <a:ext cx="3931920" cy="548640"/>
          </a:xfrm>
          <a:prstGeom prst="roundRect">
            <a:avLst>
              <a:gd name="adj" fmla="val 15000"/>
            </a:avLst>
          </a:prstGeom>
          <a:solidFill>
            <a:srgbClr val="EEF3F7"/>
          </a:solidFill>
          <a:ln w="15240">
            <a:solidFill>
              <a:srgbClr val="5D6D7E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525512" y="524865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3040"/>
                </a:solidFill>
              </a:rPr>
              <a:t>To update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525512" y="5605272"/>
            <a:ext cx="3602736" cy="-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D6D7E"/>
                </a:solidFill>
              </a:rPr>
              <a:t>Replace this section with exact supervisor feedback once available.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D7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</a:rPr>
              <a:t>Current position and immediate next steps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E3F4EA"/>
          </a:solidFill>
          <a:ln w="15240">
            <a:solidFill>
              <a:srgbClr val="2E7D57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51790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Completed so far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1874520"/>
            <a:ext cx="305409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Project aim, ISIC2020 dataset choice, system architecture, fusion strategy, and evaluation/deployment plan.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37160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DCEEFF"/>
          </a:solidFill>
          <a:ln w="15240">
            <a:solidFill>
              <a:srgbClr val="1E5B8C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151790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Immediate next step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9432" y="1874520"/>
            <a:ext cx="305409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Insert baseline ResNet50 training results and use them as the comparison point for multi-modal fusion.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CEAD8"/>
          </a:solidFill>
          <a:ln w="15240">
            <a:solidFill>
              <a:srgbClr val="C46A24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51790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3040"/>
                </a:solidFill>
              </a:rPr>
              <a:t>Final project target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11312" y="1874520"/>
            <a:ext cx="305409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A working mobile auxiliary diagnosis workflow with ONNX INT8 model and performance evaluation.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17320" y="3703320"/>
            <a:ext cx="9418320" cy="960120"/>
          </a:xfrm>
          <a:prstGeom prst="roundRect">
            <a:avLst>
              <a:gd name="adj" fmla="val 9524"/>
            </a:avLst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398678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Summary: the project is moving from planning to implementation, with the next milestone being baseline results and a measurable comparison against fusion and quantized models.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92040" y="52120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B8C"/>
                </a:solidFill>
              </a:rPr>
              <a:t>Questions?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D7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D7E"/>
                </a:solidFill>
              </a:rPr>
              <a:t>Use standard referencing style; update before final presentation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31673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E5B8C"/>
                </a:solidFill>
              </a:rPr>
              <a:t>ResNet50 baseline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2971800" y="1307592"/>
            <a:ext cx="8001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03040"/>
                </a:solidFill>
              </a:rPr>
              <a:t>He, K., Zhang, X., Ren, S. and Sun, J. (2016). Deep Residual Learning for Image Recognition. CVPR.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822960" y="1984248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66544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E5B8C"/>
                </a:solidFill>
              </a:rPr>
              <a:t>ISIC2020 dataset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2971800" y="2057400"/>
            <a:ext cx="8001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03040"/>
                </a:solidFill>
              </a:rPr>
              <a:t>Rotemberg, V. et al. (2021). A patient-centric dataset of images and metadata for identifying melanomas using clinical context. Scientific Data.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822960" y="2734056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1635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E5B8C"/>
                </a:solidFill>
              </a:rPr>
              <a:t>Skin lesion benchmark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2971800" y="2807208"/>
            <a:ext cx="8001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03040"/>
                </a:solidFill>
              </a:rPr>
              <a:t>Tschandl, P., Rosendahl, C. and Kittler, H. (2018). The HAM10000 dataset. Scientific Data.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22960" y="3483864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56616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E5B8C"/>
                </a:solidFill>
              </a:rPr>
              <a:t>Deployment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2971800" y="3557016"/>
            <a:ext cx="8001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03040"/>
                </a:solidFill>
              </a:rPr>
              <a:t>ONNX Runtime documentation: model conversion, runtime inference and quantization workflow.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822960" y="4233672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315968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E5B8C"/>
                </a:solidFill>
              </a:rPr>
              <a:t>Dataset documentation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2971800" y="4306824"/>
            <a:ext cx="8001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03040"/>
                </a:solidFill>
              </a:rPr>
              <a:t>ISIC 2020 Challenge dataset documentation: images, metadata fields and target labels.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914400" y="5623560"/>
            <a:ext cx="9875520" cy="502920"/>
          </a:xfrm>
          <a:prstGeom prst="roundRect">
            <a:avLst>
              <a:gd name="adj" fmla="val 16364"/>
            </a:avLst>
          </a:prstGeom>
          <a:solidFill>
            <a:srgbClr val="EEF3F7"/>
          </a:solidFill>
          <a:ln w="15240">
            <a:solidFill>
              <a:srgbClr val="5D6D7E"/>
            </a:solidFill>
            <a:prstDash val="solid"/>
          </a:ln>
          <a:effectLst>
            <a:outerShdw sx="100000" sy="100000" kx="0" ky="0" algn="bl" rotWithShape="0" blurRad="12700" dist="50800" dir="2700000">
              <a:srgbClr val="CFD8E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78992" y="5769864"/>
            <a:ext cx="9546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3040"/>
                </a:solidFill>
              </a:rPr>
              <a:t>Note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6126480"/>
            <a:ext cx="9546336" cy="-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D7E"/>
                </a:solidFill>
              </a:rPr>
              <a:t>Appendix / backup slide. Replace or expand references with the exact sources used in the report.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D7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University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Auxiliary Diagnosis System for Melanoma</dc:title>
  <dc:subject>Mid-term presentation deck</dc:subject>
  <dc:creator>Pengcheng Sun</dc:creator>
  <cp:lastModifiedBy>Pengcheng Sun</cp:lastModifiedBy>
  <cp:revision>1</cp:revision>
  <dcterms:created xsi:type="dcterms:W3CDTF">2026-06-14T20:19:24Z</dcterms:created>
  <dcterms:modified xsi:type="dcterms:W3CDTF">2026-06-14T20:19:24Z</dcterms:modified>
</cp:coreProperties>
</file>