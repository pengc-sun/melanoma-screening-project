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4b3c3d544447d0" /><Relationship Type="http://schemas.openxmlformats.org/officeDocument/2006/relationships/extended-properties" Target="/docProps/app.xml" Id="R6810756bc1284672" /><Relationship Type="http://schemas.openxmlformats.org/officeDocument/2006/relationships/officeDocument" Target="/ppt/presentation.xml" Id="Rcbb0d17d5146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d15510469a4dcf"/>
  </p:sldMasterIdLst>
  <p:notesMasterIdLst>
    <p:notesMasterId xmlns:r="http://schemas.openxmlformats.org/officeDocument/2006/relationships" r:id="Rd7272c6ca76440a8"/>
  </p:notesMasterIdLst>
  <p:sldIdLst>
    <p:sldId xmlns:r="http://schemas.openxmlformats.org/officeDocument/2006/relationships" id="256" r:id="R57233ceb335b4157"/>
    <p:sldId xmlns:r="http://schemas.openxmlformats.org/officeDocument/2006/relationships" id="257" r:id="R4a9dd8eb7a5647d6"/>
    <p:sldId xmlns:r="http://schemas.openxmlformats.org/officeDocument/2006/relationships" id="258" r:id="Raa03f2a81d0445bd"/>
    <p:sldId xmlns:r="http://schemas.openxmlformats.org/officeDocument/2006/relationships" id="259" r:id="R97729e748978429c"/>
    <p:sldId xmlns:r="http://schemas.openxmlformats.org/officeDocument/2006/relationships" id="260" r:id="R2f823a9b29244b49"/>
    <p:sldId xmlns:r="http://schemas.openxmlformats.org/officeDocument/2006/relationships" id="261" r:id="R0fcf372581914757"/>
    <p:sldId xmlns:r="http://schemas.openxmlformats.org/officeDocument/2006/relationships" id="262" r:id="Rb7e7026eaa8b4972"/>
    <p:sldId xmlns:r="http://schemas.openxmlformats.org/officeDocument/2006/relationships" id="263" r:id="R4354a574c4724791"/>
    <p:sldId xmlns:r="http://schemas.openxmlformats.org/officeDocument/2006/relationships" id="264" r:id="Rd425fde0f4774ebd"/>
    <p:sldId xmlns:r="http://schemas.openxmlformats.org/officeDocument/2006/relationships" id="265" r:id="R574ba971e6f543f7"/>
    <p:sldId xmlns:r="http://schemas.openxmlformats.org/officeDocument/2006/relationships" id="266" r:id="R030a21c221764665"/>
    <p:sldId xmlns:r="http://schemas.openxmlformats.org/officeDocument/2006/relationships" id="267" r:id="R7dc63870a3564aa4"/>
    <p:sldId xmlns:r="http://schemas.openxmlformats.org/officeDocument/2006/relationships" id="268" r:id="R1b7a16eba0cf4de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2527d3d584470a" /><Relationship Type="http://schemas.openxmlformats.org/officeDocument/2006/relationships/slideMaster" Target="/ppt/slideMasters/slideMaster1.xml" Id="R09d15510469a4dcf" /><Relationship Type="http://schemas.openxmlformats.org/officeDocument/2006/relationships/notesMaster" Target="/ppt/notesMasters/notesMaster1.xml" Id="Rd7272c6ca76440a8" /><Relationship Type="http://schemas.openxmlformats.org/officeDocument/2006/relationships/presProps" Target="/ppt/presProps.xml" Id="R09329e887e904f89" /><Relationship Type="http://schemas.openxmlformats.org/officeDocument/2006/relationships/tableStyles" Target="/ppt/tableStyles.xml" Id="Rebab97a1cb6a44f1" /><Relationship Type="http://schemas.openxmlformats.org/officeDocument/2006/relationships/slide" Target="/ppt/slides/slide1.xml" Id="R57233ceb335b4157" /><Relationship Type="http://schemas.openxmlformats.org/officeDocument/2006/relationships/slide" Target="/ppt/slides/slide2.xml" Id="R4a9dd8eb7a5647d6" /><Relationship Type="http://schemas.openxmlformats.org/officeDocument/2006/relationships/slide" Target="/ppt/slides/slide3.xml" Id="Raa03f2a81d0445bd" /><Relationship Type="http://schemas.openxmlformats.org/officeDocument/2006/relationships/slide" Target="/ppt/slides/slide4.xml" Id="R97729e748978429c" /><Relationship Type="http://schemas.openxmlformats.org/officeDocument/2006/relationships/slide" Target="/ppt/slides/slide5.xml" Id="R2f823a9b29244b49" /><Relationship Type="http://schemas.openxmlformats.org/officeDocument/2006/relationships/slide" Target="/ppt/slides/slide6.xml" Id="R0fcf372581914757" /><Relationship Type="http://schemas.openxmlformats.org/officeDocument/2006/relationships/slide" Target="/ppt/slides/slide7.xml" Id="Rb7e7026eaa8b4972" /><Relationship Type="http://schemas.openxmlformats.org/officeDocument/2006/relationships/slide" Target="/ppt/slides/slide8.xml" Id="R4354a574c4724791" /><Relationship Type="http://schemas.openxmlformats.org/officeDocument/2006/relationships/slide" Target="/ppt/slides/slide9.xml" Id="Rd425fde0f4774ebd" /><Relationship Type="http://schemas.openxmlformats.org/officeDocument/2006/relationships/slide" Target="/ppt/slides/slide10.xml" Id="R574ba971e6f543f7" /><Relationship Type="http://schemas.openxmlformats.org/officeDocument/2006/relationships/slide" Target="/ppt/slides/slide11.xml" Id="R030a21c221764665" /><Relationship Type="http://schemas.openxmlformats.org/officeDocument/2006/relationships/slide" Target="/ppt/slides/slide12.xml" Id="R7dc63870a3564aa4" /><Relationship Type="http://schemas.openxmlformats.org/officeDocument/2006/relationships/slide" Target="/ppt/slides/slide13.xml" Id="R1b7a16eba0cf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e07926af4e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Default Design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00e47774941c5" /><Relationship Type="http://schemas.openxmlformats.org/officeDocument/2006/relationships/notesMaster" Target="/ppt/notesMasters/notesMaster1.xml" Id="Ra9ad037d9c7b44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c12d453e843a2" /><Relationship Type="http://schemas.openxmlformats.org/officeDocument/2006/relationships/notesMaster" Target="/ppt/notesMasters/notesMaster1.xml" Id="Ree98f303f1b845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f8fe67aea4521" /><Relationship Type="http://schemas.openxmlformats.org/officeDocument/2006/relationships/notesMaster" Target="/ppt/notesMasters/notesMaster1.xml" Id="Rfffa9c7207e3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bb917703d842ee" /><Relationship Type="http://schemas.openxmlformats.org/officeDocument/2006/relationships/notesMaster" Target="/ppt/notesMasters/notesMaster1.xml" Id="R1c9bcd3eabf243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2b3f8b56964532" /><Relationship Type="http://schemas.openxmlformats.org/officeDocument/2006/relationships/notesMaster" Target="/ppt/notesMasters/notesMaster1.xml" Id="Rf3cd4e386be64d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20cacec0aa4eac" /><Relationship Type="http://schemas.openxmlformats.org/officeDocument/2006/relationships/notesMaster" Target="/ppt/notesMasters/notesMaster1.xml" Id="R631f37a00f8444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00147af0014285" /><Relationship Type="http://schemas.openxmlformats.org/officeDocument/2006/relationships/notesMaster" Target="/ppt/notesMasters/notesMaster1.xml" Id="Rb74131055ace40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b05b6f143f4754" /><Relationship Type="http://schemas.openxmlformats.org/officeDocument/2006/relationships/notesMaster" Target="/ppt/notesMasters/notesMaster1.xml" Id="R1d6e0948ae034c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9c14cfb3154bf4" /><Relationship Type="http://schemas.openxmlformats.org/officeDocument/2006/relationships/notesMaster" Target="/ppt/notesMasters/notesMaster1.xml" Id="Rc96f28c5dc8a4b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f90129dc99443d" /><Relationship Type="http://schemas.openxmlformats.org/officeDocument/2006/relationships/notesMaster" Target="/ppt/notesMasters/notesMaster1.xml" Id="Rac1a00c9723c49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bb9011e21d4f9b" /><Relationship Type="http://schemas.openxmlformats.org/officeDocument/2006/relationships/notesMaster" Target="/ppt/notesMasters/notesMaster1.xml" Id="R1aaca8290b144d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bd60b98fc74692" /><Relationship Type="http://schemas.openxmlformats.org/officeDocument/2006/relationships/notesMaster" Target="/ppt/notesMasters/notesMaster1.xml" Id="Rc2810ff4b9744a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a23d5533954118" /><Relationship Type="http://schemas.openxmlformats.org/officeDocument/2006/relationships/notesMaster" Target="/ppt/notesMasters/notesMaster1.xml" Id="Rc6540b220f5b42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14870055f43fa" /><Relationship Type="http://schemas.openxmlformats.org/officeDocument/2006/relationships/image" Target="/ppt/media/image.jpeg" Id="R73b3a026b6a44c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b87dad23f4cd3" /><Relationship Type="http://schemas.openxmlformats.org/officeDocument/2006/relationships/image" Target="/ppt/media/image2.jpeg" Id="R3994c54fcee644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d8e60e96746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63c2214644c37" /><Relationship Type="http://schemas.openxmlformats.org/officeDocument/2006/relationships/image" Target="/ppt/media/image2.jpeg" Id="Re512845ae3d942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d3be33d394fe4" /><Relationship Type="http://schemas.openxmlformats.org/officeDocument/2006/relationships/image" Target="/ppt/media/image3.jpeg" Id="Rcc1019c2970c4ae1" /></Relationships>
</file>

<file path=ppt/slideLayouts/slideLayout1.xml><?xml version="1.0" encoding="utf-8"?>
<p:sldLayout xmlns:p="http://schemas.openxmlformats.org/presentationml/2006/main" preserve="1" userDrawn="1">
  <p:cSld name="Title and Content">
    <p:bg>
      <p:bgPr>
        <a:blipFill xmlns:a="http://schemas.openxmlformats.org/drawingml/2006/main" rotWithShape="1">
          <a:blip xmlns:r="http://schemas.openxmlformats.org/officeDocument/2006/relationships" r:embed="R73b3a026b6a44c0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15793-6F82-4395-B527-858C05B3E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7544" y="1543050"/>
            <a:ext cx="6552728" cy="596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F70979D-C23B-4E28-94D4-137386CB283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68313" y="2211388"/>
            <a:ext cx="6551612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edit subtitle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bg>
      <p:bgPr>
        <a:blipFill xmlns:a="http://schemas.openxmlformats.org/drawingml/2006/main" rotWithShape="0">
          <a:blip xmlns:r="http://schemas.openxmlformats.org/officeDocument/2006/relationships" r:embed="R3994c54fcee6449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DE3F69-D87E-45DD-A0AC-F245039A6B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510"/>
            <a:ext cx="777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D9CE3C-0556-4A84-858F-73E5A7A18FD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347614"/>
            <a:ext cx="7772400" cy="2952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3_Blank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23E090-A40C-4604-9E45-3411C72C07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510"/>
            <a:ext cx="777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58F68C-FF99-4E44-A0A5-8A692E57C5A9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347614"/>
            <a:ext cx="7772400" cy="33843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Blank">
    <p:bg>
      <p:bgPr>
        <a:blipFill xmlns:a="http://schemas.openxmlformats.org/drawingml/2006/main" rotWithShape="0">
          <a:blip xmlns:r="http://schemas.openxmlformats.org/officeDocument/2006/relationships" r:embed="Re512845ae3d9427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CFB5EC-0EEB-4C52-84B4-C626146C9BF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907"/>
            <a:ext cx="4535165" cy="9182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1B152E-BE9E-4826-9B4C-B5AFBA33215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440607"/>
            <a:ext cx="4535165" cy="2715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F9920FA-F768-4F9C-89ED-923D7C9ACB8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29032" y="411510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FB68C1BE-AD26-4452-9DDC-155550FB399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946925" y="2215474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39A1FC9-2FB3-4659-9301-45631BBF61E9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946925" y="411510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9814DF8-FEBB-45FB-9909-4A925C33789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126154" y="2221260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Blank">
    <p:bg>
      <p:bgPr>
        <a:blipFill xmlns:a="http://schemas.openxmlformats.org/drawingml/2006/main" rotWithShape="0">
          <a:blip xmlns:r="http://schemas.openxmlformats.org/officeDocument/2006/relationships" r:embed="Rcc1019c2970c4a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FC279E-3C84-4E1A-99B3-5FB8B9997A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510"/>
            <a:ext cx="777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526280-1CAC-493C-8D59-CDCCD666BBE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347614"/>
            <a:ext cx="7772400" cy="27420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c0f526417b447c" /><Relationship Type="http://schemas.openxmlformats.org/officeDocument/2006/relationships/slideLayout" Target="/ppt/slideLayouts/slideLayout1.xml" Id="R2177810f5e68462b" /><Relationship Type="http://schemas.openxmlformats.org/officeDocument/2006/relationships/slideLayout" Target="/ppt/slideLayouts/slideLayout2.xml" Id="Rf09b9dc391ac430b" /><Relationship Type="http://schemas.openxmlformats.org/officeDocument/2006/relationships/slideLayout" Target="/ppt/slideLayouts/slideLayout3.xml" Id="Rbb54d206fb144d7a" /><Relationship Type="http://schemas.openxmlformats.org/officeDocument/2006/relationships/slideLayout" Target="/ppt/slideLayouts/slideLayout4.xml" Id="R5e4197aeea0f47f7" /><Relationship Type="http://schemas.openxmlformats.org/officeDocument/2006/relationships/slideLayout" Target="/ppt/slideLayouts/slideLayout5.xml" Id="Rfb1614f2ceb64b0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7810f5e68462b"/>
    <p:sldLayoutId xmlns:r="http://schemas.openxmlformats.org/officeDocument/2006/relationships" id="2147483650" r:id="Rf09b9dc391ac430b"/>
    <p:sldLayoutId xmlns:r="http://schemas.openxmlformats.org/officeDocument/2006/relationships" id="2147483651" r:id="Rbb54d206fb144d7a"/>
    <p:sldLayoutId xmlns:r="http://schemas.openxmlformats.org/officeDocument/2006/relationships" id="2147483652" r:id="R5e4197aeea0f47f7"/>
    <p:sldLayoutId xmlns:r="http://schemas.openxmlformats.org/officeDocument/2006/relationships" id="2147483653" r:id="Rfb1614f2ceb64b03"/>
  </p:sldLayoutIdLst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3600">
          <a:solidFill>
            <a:srgbClr val="489EBD"/>
          </a:solidFill>
          <a:latin typeface="Georgia"/>
          <a:ea typeface="Georgia"/>
          <a:cs typeface="Georgia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9pPr>
    </p:titleStyle>
    <p:bodyStyle>
      <a:lvl1pPr xmlns:a="http://schemas.openxmlformats.org/drawingml/2006/main" marL="0" indent="0" algn="l">
        <a:spcBef>
          <a:spcPts val="0"/>
        </a:spcBef>
        <a:spcAft>
          <a:spcPts val="0"/>
        </a:spcAft>
        <a:buNone/>
        <a:defRPr sz="20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0" algn="l">
        <a:spcBef>
          <a:spcPts val="0"/>
        </a:spcBef>
        <a:spcAft>
          <a:spcPts val="0"/>
        </a:spcAft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spcAft>
          <a:spcPts val="0"/>
        </a:spcAft>
        <a:buChar char="o"/>
        <a:defRPr sz="280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spcAft>
          <a:spcPts val="0"/>
        </a:spcAft>
        <a:buChar char="–"/>
        <a:defRPr sz="280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spcAft>
          <a:spcPts val="0"/>
        </a:spcAft>
        <a:buChar char="»"/>
        <a:defRPr sz="280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Default Design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dc281fade4b6b" /><Relationship Type="http://schemas.openxmlformats.org/officeDocument/2006/relationships/notesSlide" Target="/ppt/notesSlides/notesSlide1.xml" Id="R64c5240b26bb40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5e8635f29e4b4b" /><Relationship Type="http://schemas.openxmlformats.org/officeDocument/2006/relationships/notesSlide" Target="/ppt/notesSlides/notesSlide2.xml" Id="R2b83a07b302e46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32647f0119452a" /><Relationship Type="http://schemas.openxmlformats.org/officeDocument/2006/relationships/notesSlide" Target="/ppt/notesSlides/notesSlide3.xml" Id="R6fcaa43f84d449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abfe284749434a" /><Relationship Type="http://schemas.openxmlformats.org/officeDocument/2006/relationships/notesSlide" Target="/ppt/notesSlides/notesSlide4.xml" Id="Rb6f3e96340e148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0b397d920e4e26" /><Relationship Type="http://schemas.openxmlformats.org/officeDocument/2006/relationships/notesSlide" Target="/ppt/notesSlides/notesSlide5.xml" Id="R60dceceaf6c847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a0abb4de854a28" /><Relationship Type="http://schemas.openxmlformats.org/officeDocument/2006/relationships/notesSlide" Target="/ppt/notesSlides/notesSlide6.xml" Id="Rdcfc2a62d2464d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2dac16280e497a" /><Relationship Type="http://schemas.openxmlformats.org/officeDocument/2006/relationships/notesSlide" Target="/ppt/notesSlides/notesSlide7.xml" Id="Rdd82c58c307b4b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de299cf7bfc4206" /><Relationship Type="http://schemas.openxmlformats.org/officeDocument/2006/relationships/notesSlide" Target="/ppt/notesSlides/notesSlide8.xml" Id="Ra55fa455633549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401a566c8a4807" /><Relationship Type="http://schemas.openxmlformats.org/officeDocument/2006/relationships/notesSlide" Target="/ppt/notesSlides/notesSlide9.xml" Id="R3b9d74fbfdd84f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e74953ca4434e85" /><Relationship Type="http://schemas.openxmlformats.org/officeDocument/2006/relationships/chart" Target="/ppt/slides/charts/chart1.xml" Id="R75e85ab463b547bb" /><Relationship Type="http://schemas.openxmlformats.org/officeDocument/2006/relationships/notesSlide" Target="/ppt/notesSlides/notesSlide10.xml" Id="R5e0546112ee44a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0d332cf15143a3" /><Relationship Type="http://schemas.openxmlformats.org/officeDocument/2006/relationships/notesSlide" Target="/ppt/notesSlides/notesSlide11.xml" Id="R2e55b8c8d04b4a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811f68d3d84e8f" /><Relationship Type="http://schemas.openxmlformats.org/officeDocument/2006/relationships/notesSlide" Target="/ppt/notesSlides/notesSlide12.xml" Id="R1360d380a48f42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748a69cd02450a" /><Relationship Type="http://schemas.openxmlformats.org/officeDocument/2006/relationships/notesSlide" Target="/ppt/notesSlides/notesSlide13.xml" Id="R9c66ebf717484802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Image-only</c:v>
          </c:tx>
          <c:spPr>
            <a:solidFill xmlns:a="http://schemas.openxmlformats.org/drawingml/2006/main">
              <a:srgbClr val="8F8F8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AUC</c:v>
              </c:pt>
              <c:pt idx="1">
                <c:v>Avg precision</c:v>
              </c:pt>
              <c:pt idx="2">
                <c:v>Recall</c:v>
              </c:pt>
              <c:pt idx="3">
                <c:v>F1</c:v>
              </c:pt>
              <c:pt idx="4">
                <c:v>Balanced acc</c:v>
              </c:pt>
            </c:strLit>
          </c:cat>
          <c:val>
            <c:numLit>
              <c:formatCode>0%</c:formatCode>
              <c:ptCount val="5"/>
              <c:pt idx="0">
                <c:v>0.85499372</c:v>
              </c:pt>
              <c:pt idx="1">
                <c:v>0.12765725</c:v>
              </c:pt>
              <c:pt idx="2">
                <c:v>0.51282051</c:v>
              </c:pt>
              <c:pt idx="3">
                <c:v>0.15604681</c:v>
              </c:pt>
              <c:pt idx="4">
                <c:v>0.71092777</c:v>
              </c:pt>
            </c:numLit>
          </c:val>
        </c:ser>
        <c:ser>
          <c:idx val="1"/>
          <c:order val="1"/>
          <c:tx>
            <c:v>Multi-modal</c:v>
          </c:tx>
          <c:spPr>
            <a:solidFill xmlns:a="http://schemas.openxmlformats.org/drawingml/2006/main">
              <a:srgbClr val="7A1F1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AUC</c:v>
              </c:pt>
              <c:pt idx="1">
                <c:v>Avg precision</c:v>
              </c:pt>
              <c:pt idx="2">
                <c:v>Recall</c:v>
              </c:pt>
              <c:pt idx="3">
                <c:v>F1</c:v>
              </c:pt>
              <c:pt idx="4">
                <c:v>Balanced acc</c:v>
              </c:pt>
            </c:strLit>
          </c:cat>
          <c:val>
            <c:numLit>
              <c:formatCode>0%</c:formatCode>
              <c:ptCount val="5"/>
              <c:pt idx="0">
                <c:v>0.87419823</c:v>
              </c:pt>
              <c:pt idx="1">
                <c:v>0.1519338</c:v>
              </c:pt>
              <c:pt idx="2">
                <c:v>0.53846154</c:v>
              </c:pt>
              <c:pt idx="3">
                <c:v>0.19148936</c:v>
              </c:pt>
              <c:pt idx="4">
                <c:v>0.73250674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D4D4D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D4D4D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4D4D4D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72B4668A-4E51-422E-9E21-36DB21E3F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415" y="1491123"/>
            <a:ext cx="7230328" cy="740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>
                <a:latin typeface="Times New Roman"/>
                <a:ea typeface="Times New Roman"/>
                <a:cs typeface="Times New Roman"/>
              </a:rPr>
              <a:t>A Mobile Auxiliary Diagnosis System for Melanoma Based on Multi-Modal Fusion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D7F9254-8F6A-4151-9BD0-5CCBA332AE0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09415" y="3094031"/>
            <a:ext cx="4751759" cy="38557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Mid-term Project Presentation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Pengcheng Sun | Supervisor: Omid Pournik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29CFF8-A803-4E48-A7A7-1C4CCFB1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Presentation route and assessment coverage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FC3F89-16AD-4574-BDA2-29E848F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074A56-82B2-41E8-AC9F-5580739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7429500" cy="1952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2476500"/>
                <a:gridCol w="2476500"/>
              </a:tblGrid>
              <a:tr h="325438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Where covered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Evidence used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Aims, significance,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Slides 3 and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Project aim, stakeholders, constraints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Literature and prior 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Slide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ISIC, ResNet, skin cancer CNN references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Design and methods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Slides 6 to 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System diagram, preprocessing, model design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Results and progress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Slides 9 to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Formal validation metrics and implemented app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Management, feedback, ethics, 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Slide 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Plan, refinements, mitigations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anel-Core argument">
            <a:extLst xmlns:a="http://schemas.openxmlformats.org/drawingml/2006/main">
              <a:ext uri="{FF2B5EF4-FFF2-40B4-BE49-F238E27FC236}">
                <a16:creationId xmlns:a16="http://schemas.microsoft.com/office/drawing/2014/main" id="{665B161E-ECB7-41EC-AF48-0A3A5FA1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head-Core argument">
            <a:extLst xmlns:a="http://schemas.openxmlformats.org/drawingml/2006/main">
              <a:ext uri="{FF2B5EF4-FFF2-40B4-BE49-F238E27FC236}">
                <a16:creationId xmlns:a16="http://schemas.microsoft.com/office/drawing/2014/main" id="{9D1EA30F-CBF9-4B6F-AF6D-4B1703D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248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argument</a:t>
            </a:r>
          </a:p>
        </p:txBody>
      </p:sp>
      <p:sp>
        <p:nvSpPr>
          <p:cNvPr id="7" name="copy-Core argument">
            <a:extLst xmlns:a="http://schemas.openxmlformats.org/drawingml/2006/main">
              <a:ext uri="{FF2B5EF4-FFF2-40B4-BE49-F238E27FC236}">
                <a16:creationId xmlns:a16="http://schemas.microsoft.com/office/drawing/2014/main" id="{4A79A1B2-77F9-4F35-B500-44425F2B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3248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Clinical metadata gives useful additional signal, but the system must stay framed as screening support rather than diagnosis.</a:t>
            </a:r>
          </a:p>
        </p:txBody>
      </p:sp>
      <p:sp>
        <p:nvSpPr>
          <p:cNvPr id="8" name="panel-Current status">
            <a:extLst xmlns:a="http://schemas.openxmlformats.org/drawingml/2006/main">
              <a:ext uri="{FF2B5EF4-FFF2-40B4-BE49-F238E27FC236}">
                <a16:creationId xmlns:a16="http://schemas.microsoft.com/office/drawing/2014/main" id="{BC89835E-A5FE-479B-88E4-8F35F37B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head-Current status">
            <a:extLst xmlns:a="http://schemas.openxmlformats.org/drawingml/2006/main">
              <a:ext uri="{FF2B5EF4-FFF2-40B4-BE49-F238E27FC236}">
                <a16:creationId xmlns:a16="http://schemas.microsoft.com/office/drawing/2014/main" id="{C6A2719B-48E9-4933-A422-7D2F28B4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2676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status</a:t>
            </a:r>
          </a:p>
        </p:txBody>
      </p:sp>
      <p:sp>
        <p:nvSpPr>
          <p:cNvPr id="10" name="copy-Current status">
            <a:extLst xmlns:a="http://schemas.openxmlformats.org/drawingml/2006/main">
              <a:ext uri="{FF2B5EF4-FFF2-40B4-BE49-F238E27FC236}">
                <a16:creationId xmlns:a16="http://schemas.microsoft.com/office/drawing/2014/main" id="{47FF7C9B-441D-46D0-ACC0-15C2B2D4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48075"/>
            <a:ext cx="2676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Model, backend, Flutter workflow and history storage are implemented; ONNX/local inference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9F05A6-3EE6-4300-B01B-265608DE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Aim, significance and engineering context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1CA0E9-5307-4F63-B50E-C4E7572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WHY THIS PROJECT MATTERS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A240284-BEB3-4DA8-9AED-9AD5202E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aim-copy">
            <a:extLst xmlns:a="http://schemas.openxmlformats.org/drawingml/2006/main">
              <a:ext uri="{FF2B5EF4-FFF2-40B4-BE49-F238E27FC236}">
                <a16:creationId xmlns:a16="http://schemas.microsoft.com/office/drawing/2014/main" id="{48A5A201-1B48-4AC5-BFE8-FFC41027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76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aim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Build an AI-assisted mobile melanoma screening workflow.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Compare image-only ResNet50 with a multi-modal model using image plus age, sex and anatomical site.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Deploy the trained model through a FastAPI backend and Flutter app.</a:t>
            </a:r>
          </a:p>
        </p:txBody>
      </p:sp>
      <p:sp>
        <p:nvSpPr>
          <p:cNvPr id="5" name="metric-ISIC2020 prepared images">
            <a:extLst xmlns:a="http://schemas.openxmlformats.org/drawingml/2006/main">
              <a:ext uri="{FF2B5EF4-FFF2-40B4-BE49-F238E27FC236}">
                <a16:creationId xmlns:a16="http://schemas.microsoft.com/office/drawing/2014/main" id="{661BE8F8-62D5-4D0D-A823-476CC54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3525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metric-value-ISIC2020 prepared images">
            <a:extLst xmlns:a="http://schemas.openxmlformats.org/drawingml/2006/main">
              <a:ext uri="{FF2B5EF4-FFF2-40B4-BE49-F238E27FC236}">
                <a16:creationId xmlns:a16="http://schemas.microsoft.com/office/drawing/2014/main" id="{FE7031F5-726A-404D-A843-2459C6B8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668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33,126</a:t>
            </a:r>
          </a:p>
        </p:txBody>
      </p:sp>
      <p:sp>
        <p:nvSpPr>
          <p:cNvPr id="7" name="metric-label-ISIC2020 prepared images">
            <a:extLst xmlns:a="http://schemas.openxmlformats.org/drawingml/2006/main">
              <a:ext uri="{FF2B5EF4-FFF2-40B4-BE49-F238E27FC236}">
                <a16:creationId xmlns:a16="http://schemas.microsoft.com/office/drawing/2014/main" id="{5DC2CDCC-D0C2-4EC1-8BDB-C7058D9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ISIC2020 prepared images</a:t>
            </a:r>
          </a:p>
        </p:txBody>
      </p:sp>
      <p:sp>
        <p:nvSpPr>
          <p:cNvPr id="8" name="metric-malignant cases in prepared data">
            <a:extLst xmlns:a="http://schemas.openxmlformats.org/drawingml/2006/main">
              <a:ext uri="{FF2B5EF4-FFF2-40B4-BE49-F238E27FC236}">
                <a16:creationId xmlns:a16="http://schemas.microsoft.com/office/drawing/2014/main" id="{1C6AFE61-B710-4D0A-8854-177E8B77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525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metric-value-malignant cases in prepared data">
            <a:extLst xmlns:a="http://schemas.openxmlformats.org/drawingml/2006/main">
              <a:ext uri="{FF2B5EF4-FFF2-40B4-BE49-F238E27FC236}">
                <a16:creationId xmlns:a16="http://schemas.microsoft.com/office/drawing/2014/main" id="{976B0BE4-AFD0-4040-831C-EB57130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668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584</a:t>
            </a:r>
          </a:p>
        </p:txBody>
      </p:sp>
      <p:sp>
        <p:nvSpPr>
          <p:cNvPr id="10" name="metric-label-malignant cases in prepared data">
            <a:extLst xmlns:a="http://schemas.openxmlformats.org/drawingml/2006/main">
              <a:ext uri="{FF2B5EF4-FFF2-40B4-BE49-F238E27FC236}">
                <a16:creationId xmlns:a16="http://schemas.microsoft.com/office/drawing/2014/main" id="{48993AD7-472D-4459-8358-691B9766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malignant cases in prepared data</a:t>
            </a:r>
          </a:p>
        </p:txBody>
      </p:sp>
      <p:sp>
        <p:nvSpPr>
          <p:cNvPr id="11" name="panel-Problem">
            <a:extLst xmlns:a="http://schemas.openxmlformats.org/drawingml/2006/main">
              <a:ext uri="{FF2B5EF4-FFF2-40B4-BE49-F238E27FC236}">
                <a16:creationId xmlns:a16="http://schemas.microsoft.com/office/drawing/2014/main" id="{1B8D1E42-1C6C-4358-BB01-02050295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33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head-Problem">
            <a:extLst xmlns:a="http://schemas.openxmlformats.org/drawingml/2006/main">
              <a:ext uri="{FF2B5EF4-FFF2-40B4-BE49-F238E27FC236}">
                <a16:creationId xmlns:a16="http://schemas.microsoft.com/office/drawing/2014/main" id="{AD006D5B-6562-44CB-B309-2B773D0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3" name="copy-Problem">
            <a:extLst xmlns:a="http://schemas.openxmlformats.org/drawingml/2006/main">
              <a:ext uri="{FF2B5EF4-FFF2-40B4-BE49-F238E27FC236}">
                <a16:creationId xmlns:a16="http://schemas.microsoft.com/office/drawing/2014/main" id="{51989B23-7D6C-47A9-8A0D-AD9C55B3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Melanoma is rare in the dataset but clinically high impact. This makes accuracy alone unsafe as a headline metric.</a:t>
            </a:r>
          </a:p>
        </p:txBody>
      </p:sp>
      <p:sp>
        <p:nvSpPr>
          <p:cNvPr id="14" name="panel-Engineering need">
            <a:extLst xmlns:a="http://schemas.openxmlformats.org/drawingml/2006/main">
              <a:ext uri="{FF2B5EF4-FFF2-40B4-BE49-F238E27FC236}">
                <a16:creationId xmlns:a16="http://schemas.microsoft.com/office/drawing/2014/main" id="{5B19E7C7-2246-4A3E-AF74-AD8681B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233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head-Engineering need">
            <a:extLst xmlns:a="http://schemas.openxmlformats.org/drawingml/2006/main">
              <a:ext uri="{FF2B5EF4-FFF2-40B4-BE49-F238E27FC236}">
                <a16:creationId xmlns:a16="http://schemas.microsoft.com/office/drawing/2014/main" id="{8D9176BE-1D77-4821-A4EB-B9065D2B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98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Engineering need</a:t>
            </a:r>
          </a:p>
        </p:txBody>
      </p:sp>
      <p:sp>
        <p:nvSpPr>
          <p:cNvPr id="16" name="copy-Engineering need">
            <a:extLst xmlns:a="http://schemas.openxmlformats.org/drawingml/2006/main">
              <a:ext uri="{FF2B5EF4-FFF2-40B4-BE49-F238E27FC236}">
                <a16:creationId xmlns:a16="http://schemas.microsoft.com/office/drawing/2014/main" id="{733C3A9D-267E-4F7F-B84D-E5EEFA6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0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 model result must be connected to usable software: image input, clinical metadata, authenticated API calls and saved history.</a:t>
            </a:r>
          </a:p>
        </p:txBody>
      </p:sp>
      <p:sp>
        <p:nvSpPr>
          <p:cNvPr id="17" name="panel-Intended outcome">
            <a:extLst xmlns:a="http://schemas.openxmlformats.org/drawingml/2006/main">
              <a:ext uri="{FF2B5EF4-FFF2-40B4-BE49-F238E27FC236}">
                <a16:creationId xmlns:a16="http://schemas.microsoft.com/office/drawing/2014/main" id="{17BFE4C9-284B-42A8-865F-70607713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233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head-Intended outcome">
            <a:extLst xmlns:a="http://schemas.openxmlformats.org/drawingml/2006/main">
              <a:ext uri="{FF2B5EF4-FFF2-40B4-BE49-F238E27FC236}">
                <a16:creationId xmlns:a16="http://schemas.microsoft.com/office/drawing/2014/main" id="{F3E266C9-4966-455C-9997-B81C5D2B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98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Intended outcome</a:t>
            </a:r>
          </a:p>
        </p:txBody>
      </p:sp>
      <p:sp>
        <p:nvSpPr>
          <p:cNvPr id="19" name="copy-Intended outcome">
            <a:extLst xmlns:a="http://schemas.openxmlformats.org/drawingml/2006/main">
              <a:ext uri="{FF2B5EF4-FFF2-40B4-BE49-F238E27FC236}">
                <a16:creationId xmlns:a16="http://schemas.microsoft.com/office/drawing/2014/main" id="{28910F50-B007-4C71-B798-0C0E6DE7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 traceable prototype that supports screening discussion, not an autonomous medical diagnosis.</a:t>
            </a:r>
          </a:p>
        </p:txBody>
      </p:sp>
      <p:sp>
        <p:nvSpPr>
          <p:cNvPr id="2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3EF7D34-CE45-4743-ABC1-8ADAEA1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Sources: Project log-book; ISIC2020 prepared dataset summary.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BBA8D2-EFE3-43AD-845E-95C35AC2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Previous work informs the design choice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8F35433-D1F1-4A44-94C8-F8A4CAB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LITERATURE AND RATIONALE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E3D65A-6BB8-4096-AFAB-C80F143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panel-Skin lesion CNNs">
            <a:extLst xmlns:a="http://schemas.openxmlformats.org/drawingml/2006/main">
              <a:ext uri="{FF2B5EF4-FFF2-40B4-BE49-F238E27FC236}">
                <a16:creationId xmlns:a16="http://schemas.microsoft.com/office/drawing/2014/main" id="{2616A0F8-950A-433D-B8A0-95771EDF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190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head-Skin lesion CNNs">
            <a:extLst xmlns:a="http://schemas.openxmlformats.org/drawingml/2006/main">
              <a:ext uri="{FF2B5EF4-FFF2-40B4-BE49-F238E27FC236}">
                <a16:creationId xmlns:a16="http://schemas.microsoft.com/office/drawing/2014/main" id="{53367EC3-CFB7-4B51-B245-8CDE54CE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Skin lesion CNNs</a:t>
            </a:r>
          </a:p>
        </p:txBody>
      </p:sp>
      <p:sp>
        <p:nvSpPr>
          <p:cNvPr id="6" name="copy-Skin lesion CNNs">
            <a:extLst xmlns:a="http://schemas.openxmlformats.org/drawingml/2006/main">
              <a:ext uri="{FF2B5EF4-FFF2-40B4-BE49-F238E27FC236}">
                <a16:creationId xmlns:a16="http://schemas.microsoft.com/office/drawing/2014/main" id="{84922FC4-EE8B-4157-8BE4-8167A305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1962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Prior work shows CNNs can classify skin lesions from images, but clinical deployment requires careful framing and validation.</a:t>
            </a:r>
          </a:p>
        </p:txBody>
      </p:sp>
      <p:sp>
        <p:nvSpPr>
          <p:cNvPr id="7" name="panel-ResNet50 baseline">
            <a:extLst xmlns:a="http://schemas.openxmlformats.org/drawingml/2006/main">
              <a:ext uri="{FF2B5EF4-FFF2-40B4-BE49-F238E27FC236}">
                <a16:creationId xmlns:a16="http://schemas.microsoft.com/office/drawing/2014/main" id="{9C9D1E37-0AF7-4EDB-8A74-7245297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14450"/>
            <a:ext cx="2190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head-ResNet50 baseline">
            <a:extLst xmlns:a="http://schemas.openxmlformats.org/drawingml/2006/main">
              <a:ext uri="{FF2B5EF4-FFF2-40B4-BE49-F238E27FC236}">
                <a16:creationId xmlns:a16="http://schemas.microsoft.com/office/drawing/2014/main" id="{8F1291CD-D2D3-494F-BF5F-1F73D4A6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09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ResNet50 baseline</a:t>
            </a:r>
          </a:p>
        </p:txBody>
      </p:sp>
      <p:sp>
        <p:nvSpPr>
          <p:cNvPr id="9" name="copy-ResNet50 baseline">
            <a:extLst xmlns:a="http://schemas.openxmlformats.org/drawingml/2006/main">
              <a:ext uri="{FF2B5EF4-FFF2-40B4-BE49-F238E27FC236}">
                <a16:creationId xmlns:a16="http://schemas.microsoft.com/office/drawing/2014/main" id="{58B0DAF5-7FEE-4B72-A7AF-7AE91706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647825"/>
            <a:ext cx="1962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Residual learning provides a stable pretrained image backbone. It is used here as the image-only comparator.</a:t>
            </a:r>
          </a:p>
        </p:txBody>
      </p:sp>
      <p:sp>
        <p:nvSpPr>
          <p:cNvPr id="10" name="panel-ISIC2020 dataset">
            <a:extLst xmlns:a="http://schemas.openxmlformats.org/drawingml/2006/main">
              <a:ext uri="{FF2B5EF4-FFF2-40B4-BE49-F238E27FC236}">
                <a16:creationId xmlns:a16="http://schemas.microsoft.com/office/drawing/2014/main" id="{396122DC-AD02-4D4A-B1A8-65246CA6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"/>
            <a:ext cx="2190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head-ISIC2020 dataset">
            <a:extLst xmlns:a="http://schemas.openxmlformats.org/drawingml/2006/main">
              <a:ext uri="{FF2B5EF4-FFF2-40B4-BE49-F238E27FC236}">
                <a16:creationId xmlns:a16="http://schemas.microsoft.com/office/drawing/2014/main" id="{65C41AAB-8DE3-46CB-907E-79807C1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09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ISIC2020 dataset</a:t>
            </a:r>
          </a:p>
        </p:txBody>
      </p:sp>
      <p:sp>
        <p:nvSpPr>
          <p:cNvPr id="12" name="copy-ISIC2020 dataset">
            <a:extLst xmlns:a="http://schemas.openxmlformats.org/drawingml/2006/main">
              <a:ext uri="{FF2B5EF4-FFF2-40B4-BE49-F238E27FC236}">
                <a16:creationId xmlns:a16="http://schemas.microsoft.com/office/drawing/2014/main" id="{2321A065-2E51-4E6B-8E1D-3DEDC4C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47825"/>
            <a:ext cx="1962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ISIC2020 provides dermoscopic images with metadata fields that match the multi-modal research question.</a:t>
            </a:r>
          </a:p>
        </p:txBody>
      </p:sp>
      <p:sp>
        <p:nvSpPr>
          <p:cNvPr id="13" name="rationale">
            <a:extLst xmlns:a="http://schemas.openxmlformats.org/drawingml/2006/main">
              <a:ext uri="{FF2B5EF4-FFF2-40B4-BE49-F238E27FC236}">
                <a16:creationId xmlns:a16="http://schemas.microsoft.com/office/drawing/2014/main" id="{D559F154-77C5-489F-BF12-F833328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00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implication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Use image-only ResNet50 first, then add a compact clinical MLP branch.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Compare both models on the same validation split.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Report AUC, average precision, recall, F1 and balanced accuracy because class imbalance is severe.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A4F38A0-E538-4A61-AFE5-582758F3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References: He et al. 2016; Esteva et al. 2017; ISIC Challenge Datasets; SIIM-ISIC 2020 challenge article.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E9175E-B77E-4270-834E-9F2F1564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Requirements, stakeholders and constraints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8EFE39B-FB9E-45D7-8FB2-5AB0141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PROBLEM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620D5F5-9923-4E15-A6CA-8A76D78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3714750" cy="1638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57375"/>
                <a:gridCol w="1857375"/>
              </a:tblGrid>
              <a:tr h="32766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Student/researcher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 defensible model comparison and working prototype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Potential user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Clear upload, metadata input and understandable result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Clinician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Result framed as auxiliary risk signal, not diagnosis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Supervisor/assessor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Evidence of engineering decisions and validation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4629150" y="1314450"/>
          <a:ext xmlns:a="http://schemas.openxmlformats.org/drawingml/2006/main" cx="3333750" cy="1638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666875"/>
              </a:tblGrid>
              <a:tr h="32766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Constraint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Design response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Medical 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Disclaimer and screening language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Class imbalance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Melanoma-focused metrics and confusion matrix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Missing metadata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Unknown categories and default values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Reproducibility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Saved CSV metrics, predictions and training history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anel-Legal and societal position">
            <a:extLst xmlns:a="http://schemas.openxmlformats.org/drawingml/2006/main">
              <a:ext uri="{FF2B5EF4-FFF2-40B4-BE49-F238E27FC236}">
                <a16:creationId xmlns:a16="http://schemas.microsoft.com/office/drawing/2014/main" id="{0B1F24AF-6899-4930-9926-5E5378DC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head-Legal and societal position">
            <a:extLst xmlns:a="http://schemas.openxmlformats.org/drawingml/2006/main">
              <a:ext uri="{FF2B5EF4-FFF2-40B4-BE49-F238E27FC236}">
                <a16:creationId xmlns:a16="http://schemas.microsoft.com/office/drawing/2014/main" id="{7CEC7B87-DA5F-4795-9554-67AA9744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248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and societal position</a:t>
            </a:r>
          </a:p>
        </p:txBody>
      </p:sp>
      <p:sp>
        <p:nvSpPr>
          <p:cNvPr id="8" name="copy-Legal and societal position">
            <a:extLst xmlns:a="http://schemas.openxmlformats.org/drawingml/2006/main">
              <a:ext uri="{FF2B5EF4-FFF2-40B4-BE49-F238E27FC236}">
                <a16:creationId xmlns:a16="http://schemas.microsoft.com/office/drawing/2014/main" id="{B2274A33-7973-4443-BEEB-80979E0F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248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application prototype stores local demo account/history data and must not be presented as replacing professional medical diagnosis.</a:t>
            </a:r>
          </a:p>
        </p:txBody>
      </p:sp>
      <p:sp>
        <p:nvSpPr>
          <p:cNvPr id="9" name="panel-Engineering success condition">
            <a:extLst xmlns:a="http://schemas.openxmlformats.org/drawingml/2006/main">
              <a:ext uri="{FF2B5EF4-FFF2-40B4-BE49-F238E27FC236}">
                <a16:creationId xmlns:a16="http://schemas.microsoft.com/office/drawing/2014/main" id="{4E306722-7E38-4716-B68D-B27533F5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head-Engineering success condition">
            <a:extLst xmlns:a="http://schemas.openxmlformats.org/drawingml/2006/main">
              <a:ext uri="{FF2B5EF4-FFF2-40B4-BE49-F238E27FC236}">
                <a16:creationId xmlns:a16="http://schemas.microsoft.com/office/drawing/2014/main" id="{9B47AAAB-C3D3-4122-8CDC-6641A63B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33750"/>
            <a:ext cx="3248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Engineering success condition</a:t>
            </a:r>
          </a:p>
        </p:txBody>
      </p:sp>
      <p:sp>
        <p:nvSpPr>
          <p:cNvPr id="11" name="copy-Engineering success condition">
            <a:extLst xmlns:a="http://schemas.openxmlformats.org/drawingml/2006/main">
              <a:ext uri="{FF2B5EF4-FFF2-40B4-BE49-F238E27FC236}">
                <a16:creationId xmlns:a16="http://schemas.microsoft.com/office/drawing/2014/main" id="{EDA23C05-A7EA-46E7-A728-9A6526B5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71875"/>
            <a:ext cx="3248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model, backend and mobile app must agree on preprocessing, metadata encoding and prediction semantics.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250163-2D43-4DD0-8BBB-EF9437F1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Integrated application data flow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4A9B006-52BD-4D8F-A3C0-D58ADB70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FC024F-0EB4-43EA-8ABE-197ADFE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request-flow-label">
            <a:extLst xmlns:a="http://schemas.openxmlformats.org/drawingml/2006/main">
              <a:ext uri="{FF2B5EF4-FFF2-40B4-BE49-F238E27FC236}">
                <a16:creationId xmlns:a16="http://schemas.microsoft.com/office/drawing/2014/main" id="{1D241B1D-E73B-405A-BB3F-49AE4245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1. Prediction request flow</a:t>
            </a:r>
          </a:p>
        </p:txBody>
      </p:sp>
      <p:sp>
        <p:nvSpPr>
          <p:cNvPr id="5" name="process-User inputs">
            <a:extLst xmlns:a="http://schemas.openxmlformats.org/drawingml/2006/main">
              <a:ext uri="{FF2B5EF4-FFF2-40B4-BE49-F238E27FC236}">
                <a16:creationId xmlns:a16="http://schemas.microsoft.com/office/drawing/2014/main" id="{F46C1D6F-30BD-4A48-8797-59C1995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process-title-User inputs">
            <a:extLst xmlns:a="http://schemas.openxmlformats.org/drawingml/2006/main">
              <a:ext uri="{FF2B5EF4-FFF2-40B4-BE49-F238E27FC236}">
                <a16:creationId xmlns:a16="http://schemas.microsoft.com/office/drawing/2014/main" id="{6ABB55D5-4047-4A68-BD20-FEBB2AB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 inputs</a:t>
            </a:r>
          </a:p>
        </p:txBody>
      </p:sp>
      <p:sp>
        <p:nvSpPr>
          <p:cNvPr id="7" name="process-copy-User inputs">
            <a:extLst xmlns:a="http://schemas.openxmlformats.org/drawingml/2006/main">
              <a:ext uri="{FF2B5EF4-FFF2-40B4-BE49-F238E27FC236}">
                <a16:creationId xmlns:a16="http://schemas.microsoft.com/office/drawing/2014/main" id="{4470D3FE-4FC9-4455-9D90-4AEFD98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lesion image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age, sex, site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E75F1DAA-695E-41F6-A350-F98ECEE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9" name="process-Flutter form">
            <a:extLst xmlns:a="http://schemas.openxmlformats.org/drawingml/2006/main">
              <a:ext uri="{FF2B5EF4-FFF2-40B4-BE49-F238E27FC236}">
                <a16:creationId xmlns:a16="http://schemas.microsoft.com/office/drawing/2014/main" id="{0AEC67E9-5DFF-413C-989D-F5C4A2D5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process-title-Flutter form">
            <a:extLst xmlns:a="http://schemas.openxmlformats.org/drawingml/2006/main">
              <a:ext uri="{FF2B5EF4-FFF2-40B4-BE49-F238E27FC236}">
                <a16:creationId xmlns:a16="http://schemas.microsoft.com/office/drawing/2014/main" id="{A7C39C51-60E3-40EA-89A2-E7A0F9A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Flutter form</a:t>
            </a:r>
          </a:p>
        </p:txBody>
      </p:sp>
      <p:sp>
        <p:nvSpPr>
          <p:cNvPr id="11" name="process-copy-Flutter form">
            <a:extLst xmlns:a="http://schemas.openxmlformats.org/drawingml/2006/main">
              <a:ext uri="{FF2B5EF4-FFF2-40B4-BE49-F238E27FC236}">
                <a16:creationId xmlns:a16="http://schemas.microsoft.com/office/drawing/2014/main" id="{F79A4A6C-6190-4E33-8320-01B7DC8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select/capture image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validate fields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99EBB85F-0C08-4F21-8E67-887F24B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3" name="process-POST /predict">
            <a:extLst xmlns:a="http://schemas.openxmlformats.org/drawingml/2006/main">
              <a:ext uri="{FF2B5EF4-FFF2-40B4-BE49-F238E27FC236}">
                <a16:creationId xmlns:a16="http://schemas.microsoft.com/office/drawing/2014/main" id="{3A43D73E-03A7-4C82-915F-4264E67B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process-title-POST /predict">
            <a:extLst xmlns:a="http://schemas.openxmlformats.org/drawingml/2006/main">
              <a:ext uri="{FF2B5EF4-FFF2-40B4-BE49-F238E27FC236}">
                <a16:creationId xmlns:a16="http://schemas.microsoft.com/office/drawing/2014/main" id="{06209CE2-4A9C-46F2-AF22-A7BDB36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 /predict</a:t>
            </a:r>
          </a:p>
        </p:txBody>
      </p:sp>
      <p:sp>
        <p:nvSpPr>
          <p:cNvPr id="15" name="process-copy-POST /predict">
            <a:extLst xmlns:a="http://schemas.openxmlformats.org/drawingml/2006/main">
              <a:ext uri="{FF2B5EF4-FFF2-40B4-BE49-F238E27FC236}">
                <a16:creationId xmlns:a16="http://schemas.microsoft.com/office/drawing/2014/main" id="{6568428D-E972-442C-BE1C-88F747EC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multipart form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Bearer JWT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C7E09EB8-B0C0-4CCB-80B0-33908E2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7" name="process-FastAPI">
            <a:extLst xmlns:a="http://schemas.openxmlformats.org/drawingml/2006/main">
              <a:ext uri="{FF2B5EF4-FFF2-40B4-BE49-F238E27FC236}">
                <a16:creationId xmlns:a16="http://schemas.microsoft.com/office/drawing/2014/main" id="{1962A2B4-4A66-4671-91FA-C454BA3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process-title-FastAPI">
            <a:extLst xmlns:a="http://schemas.openxmlformats.org/drawingml/2006/main">
              <a:ext uri="{FF2B5EF4-FFF2-40B4-BE49-F238E27FC236}">
                <a16:creationId xmlns:a16="http://schemas.microsoft.com/office/drawing/2014/main" id="{9AB86869-DF2A-4E3E-ACC5-8589D68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9" name="process-copy-FastAPI">
            <a:extLst xmlns:a="http://schemas.openxmlformats.org/drawingml/2006/main">
              <a:ext uri="{FF2B5EF4-FFF2-40B4-BE49-F238E27FC236}">
                <a16:creationId xmlns:a16="http://schemas.microsoft.com/office/drawing/2014/main" id="{3A2836D4-56F6-47B5-A2A5-74FDFEF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authenticate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decode image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894CA60E-5A9C-49B8-9137-E6207E5F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1" name="process-Inference">
            <a:extLst xmlns:a="http://schemas.openxmlformats.org/drawingml/2006/main">
              <a:ext uri="{FF2B5EF4-FFF2-40B4-BE49-F238E27FC236}">
                <a16:creationId xmlns:a16="http://schemas.microsoft.com/office/drawing/2014/main" id="{F9DC70D9-86EC-4D39-AC42-DC4DA1F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process-title-Inference">
            <a:extLst xmlns:a="http://schemas.openxmlformats.org/drawingml/2006/main">
              <a:ext uri="{FF2B5EF4-FFF2-40B4-BE49-F238E27FC236}">
                <a16:creationId xmlns:a16="http://schemas.microsoft.com/office/drawing/2014/main" id="{B0976F88-67FA-4012-9D6F-0E32941F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3" name="process-copy-Inference">
            <a:extLst xmlns:a="http://schemas.openxmlformats.org/drawingml/2006/main">
              <a:ext uri="{FF2B5EF4-FFF2-40B4-BE49-F238E27FC236}">
                <a16:creationId xmlns:a16="http://schemas.microsoft.com/office/drawing/2014/main" id="{DA016166-FBF7-4EC2-8DD8-FC7E495E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preprocess -&gt; fusion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model -&gt; top-k</a:t>
            </a:r>
          </a:p>
        </p:txBody>
      </p:sp>
      <p:sp>
        <p:nvSpPr>
          <p:cNvPr id="24" name="response-flow-label">
            <a:extLst xmlns:a="http://schemas.openxmlformats.org/drawingml/2006/main">
              <a:ext uri="{FF2B5EF4-FFF2-40B4-BE49-F238E27FC236}">
                <a16:creationId xmlns:a16="http://schemas.microsoft.com/office/drawing/2014/main" id="{28550F4A-D908-4876-9E8C-57903EF7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2. Output branches</a:t>
            </a:r>
          </a:p>
        </p:txBody>
      </p:sp>
      <p:sp>
        <p:nvSpPr>
          <p:cNvPr id="25" name="response-branch-label">
            <a:extLst xmlns:a="http://schemas.openxmlformats.org/drawingml/2006/main">
              <a:ext uri="{FF2B5EF4-FFF2-40B4-BE49-F238E27FC236}">
                <a16:creationId xmlns:a16="http://schemas.microsoft.com/office/drawing/2014/main" id="{2DC21315-A0F1-4A42-9979-575F06A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7A1F1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7A1F1F"/>
                </a:solidFill>
                <a:latin typeface="Arial"/>
                <a:ea typeface="Arial"/>
                <a:cs typeface="Arial"/>
              </a:rPr>
              <a:t>Response branch</a:t>
            </a:r>
          </a:p>
        </p:txBody>
      </p:sp>
      <p:sp>
        <p:nvSpPr>
          <p:cNvPr id="26" name="persistence-branch-label">
            <a:extLst xmlns:a="http://schemas.openxmlformats.org/drawingml/2006/main">
              <a:ext uri="{FF2B5EF4-FFF2-40B4-BE49-F238E27FC236}">
                <a16:creationId xmlns:a16="http://schemas.microsoft.com/office/drawing/2014/main" id="{C6041677-F356-4F82-B1C9-837772F2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7A1F1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7A1F1F"/>
                </a:solidFill>
                <a:latin typeface="Arial"/>
                <a:ea typeface="Arial"/>
                <a:cs typeface="Arial"/>
              </a:rPr>
              <a:t>Persistence and retrieval branch</a:t>
            </a:r>
          </a:p>
        </p:txBody>
      </p:sp>
      <p:sp>
        <p:nvSpPr>
          <p:cNvPr id="27" name="process-Prediction JSON">
            <a:extLst xmlns:a="http://schemas.openxmlformats.org/drawingml/2006/main">
              <a:ext uri="{FF2B5EF4-FFF2-40B4-BE49-F238E27FC236}">
                <a16:creationId xmlns:a16="http://schemas.microsoft.com/office/drawing/2014/main" id="{15C77B42-E9DD-4BC2-9CF2-96C49608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process-title-Prediction JSON">
            <a:extLst xmlns:a="http://schemas.openxmlformats.org/drawingml/2006/main">
              <a:ext uri="{FF2B5EF4-FFF2-40B4-BE49-F238E27FC236}">
                <a16:creationId xmlns:a16="http://schemas.microsoft.com/office/drawing/2014/main" id="{6DCB3F1F-B4FD-497C-BAD5-039C088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Prediction JSON</a:t>
            </a:r>
          </a:p>
        </p:txBody>
      </p:sp>
      <p:sp>
        <p:nvSpPr>
          <p:cNvPr id="29" name="process-copy-Prediction JSON">
            <a:extLst xmlns:a="http://schemas.openxmlformats.org/drawingml/2006/main">
              <a:ext uri="{FF2B5EF4-FFF2-40B4-BE49-F238E27FC236}">
                <a16:creationId xmlns:a16="http://schemas.microsoft.com/office/drawing/2014/main" id="{CA311B58-8D54-4A3B-89EB-E819EC90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label, confidence,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top-k, disclaimer</a:t>
            </a:r>
          </a:p>
        </p:txBody>
      </p:sp>
      <p:sp>
        <p:nvSpPr>
          <p:cNvPr id="30" name="arrow">
            <a:extLst xmlns:a="http://schemas.openxmlformats.org/drawingml/2006/main">
              <a:ext uri="{FF2B5EF4-FFF2-40B4-BE49-F238E27FC236}">
                <a16:creationId xmlns:a16="http://schemas.microsoft.com/office/drawing/2014/main" id="{39DC4892-F2E1-40ED-9EDD-580A058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31" name="process-Result screen">
            <a:extLst xmlns:a="http://schemas.openxmlformats.org/drawingml/2006/main">
              <a:ext uri="{FF2B5EF4-FFF2-40B4-BE49-F238E27FC236}">
                <a16:creationId xmlns:a16="http://schemas.microsoft.com/office/drawing/2014/main" id="{2A3DC5AA-FF6D-4FE7-BEF5-86CAFCC6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2" name="process-title-Result screen">
            <a:extLst xmlns:a="http://schemas.openxmlformats.org/drawingml/2006/main">
              <a:ext uri="{FF2B5EF4-FFF2-40B4-BE49-F238E27FC236}">
                <a16:creationId xmlns:a16="http://schemas.microsoft.com/office/drawing/2014/main" id="{FCBD2686-7EEB-4429-8B15-73BCB431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 screen</a:t>
            </a:r>
          </a:p>
        </p:txBody>
      </p:sp>
      <p:sp>
        <p:nvSpPr>
          <p:cNvPr id="33" name="process-copy-Result screen">
            <a:extLst xmlns:a="http://schemas.openxmlformats.org/drawingml/2006/main">
              <a:ext uri="{FF2B5EF4-FFF2-40B4-BE49-F238E27FC236}">
                <a16:creationId xmlns:a16="http://schemas.microsoft.com/office/drawing/2014/main" id="{0264AC99-7D4C-4254-A951-B433ED7C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Flutter displays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screening output</a:t>
            </a:r>
          </a:p>
        </p:txBody>
      </p:sp>
      <p:sp>
        <p:nvSpPr>
          <p:cNvPr id="34" name="process-History write">
            <a:extLst xmlns:a="http://schemas.openxmlformats.org/drawingml/2006/main">
              <a:ext uri="{FF2B5EF4-FFF2-40B4-BE49-F238E27FC236}">
                <a16:creationId xmlns:a16="http://schemas.microsoft.com/office/drawing/2014/main" id="{70934488-DEF7-4FB3-A180-D7F0691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process-title-History write">
            <a:extLst xmlns:a="http://schemas.openxmlformats.org/drawingml/2006/main">
              <a:ext uri="{FF2B5EF4-FFF2-40B4-BE49-F238E27FC236}">
                <a16:creationId xmlns:a16="http://schemas.microsoft.com/office/drawing/2014/main" id="{D17EC274-1619-4A3D-AB1E-47F13B82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 write</a:t>
            </a:r>
          </a:p>
        </p:txBody>
      </p:sp>
      <p:sp>
        <p:nvSpPr>
          <p:cNvPr id="36" name="process-copy-History write">
            <a:extLst xmlns:a="http://schemas.openxmlformats.org/drawingml/2006/main">
              <a:ext uri="{FF2B5EF4-FFF2-40B4-BE49-F238E27FC236}">
                <a16:creationId xmlns:a16="http://schemas.microsoft.com/office/drawing/2014/main" id="{FF0ADE50-7177-4C7B-B465-6492B999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user ID + inputs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prediction record</a:t>
            </a:r>
          </a:p>
        </p:txBody>
      </p:sp>
      <p:sp>
        <p:nvSpPr>
          <p:cNvPr id="37" name="arrow">
            <a:extLst xmlns:a="http://schemas.openxmlformats.org/drawingml/2006/main">
              <a:ext uri="{FF2B5EF4-FFF2-40B4-BE49-F238E27FC236}">
                <a16:creationId xmlns:a16="http://schemas.microsoft.com/office/drawing/2014/main" id="{D2D55147-1234-43BF-904A-92E95C2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38" name="process-SQLite">
            <a:extLst xmlns:a="http://schemas.openxmlformats.org/drawingml/2006/main">
              <a:ext uri="{FF2B5EF4-FFF2-40B4-BE49-F238E27FC236}">
                <a16:creationId xmlns:a16="http://schemas.microsoft.com/office/drawing/2014/main" id="{9421A7CB-EBA4-45F7-8289-A1FE5B9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process-title-SQLite">
            <a:extLst xmlns:a="http://schemas.openxmlformats.org/drawingml/2006/main">
              <a:ext uri="{FF2B5EF4-FFF2-40B4-BE49-F238E27FC236}">
                <a16:creationId xmlns:a16="http://schemas.microsoft.com/office/drawing/2014/main" id="{317693ED-E460-440B-A641-AF882856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40" name="process-copy-SQLite">
            <a:extLst xmlns:a="http://schemas.openxmlformats.org/drawingml/2006/main">
              <a:ext uri="{FF2B5EF4-FFF2-40B4-BE49-F238E27FC236}">
                <a16:creationId xmlns:a16="http://schemas.microsoft.com/office/drawing/2014/main" id="{917E85D2-737D-4A36-8930-E6427A72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prediction_history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41" name="arrow">
            <a:extLst xmlns:a="http://schemas.openxmlformats.org/drawingml/2006/main">
              <a:ext uri="{FF2B5EF4-FFF2-40B4-BE49-F238E27FC236}">
                <a16:creationId xmlns:a16="http://schemas.microsoft.com/office/drawing/2014/main" id="{212671F3-3724-4661-8E45-D0DD7F7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42" name="process-History screen">
            <a:extLst xmlns:a="http://schemas.openxmlformats.org/drawingml/2006/main">
              <a:ext uri="{FF2B5EF4-FFF2-40B4-BE49-F238E27FC236}">
                <a16:creationId xmlns:a16="http://schemas.microsoft.com/office/drawing/2014/main" id="{EF846AF4-1872-4CC7-97FE-10E4BE5E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process-title-History screen">
            <a:extLst xmlns:a="http://schemas.openxmlformats.org/drawingml/2006/main">
              <a:ext uri="{FF2B5EF4-FFF2-40B4-BE49-F238E27FC236}">
                <a16:creationId xmlns:a16="http://schemas.microsoft.com/office/drawing/2014/main" id="{3B7D06EA-2B1D-4355-BE31-34C9475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 screen</a:t>
            </a:r>
          </a:p>
        </p:txBody>
      </p:sp>
      <p:sp>
        <p:nvSpPr>
          <p:cNvPr id="44" name="process-copy-History screen">
            <a:extLst xmlns:a="http://schemas.openxmlformats.org/drawingml/2006/main">
              <a:ext uri="{FF2B5EF4-FFF2-40B4-BE49-F238E27FC236}">
                <a16:creationId xmlns:a16="http://schemas.microsoft.com/office/drawing/2014/main" id="{25D8C4E6-1112-4302-9736-4798D1F5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GET /history -&gt;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Flutter list</a:t>
            </a:r>
          </a:p>
        </p:txBody>
      </p:sp>
      <p:sp>
        <p:nvSpPr>
          <p:cNvPr id="45" name="flow-branch-note">
            <a:extLst xmlns:a="http://schemas.openxmlformats.org/drawingml/2006/main">
              <a:ext uri="{FF2B5EF4-FFF2-40B4-BE49-F238E27FC236}">
                <a16:creationId xmlns:a16="http://schemas.microsoft.com/office/drawing/2014/main" id="{992694AB-D8DB-436A-BC35-F3C11F54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7662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FastAPI returns the JSON result to the current screen and, in parallel, stores the authenticated prediction so it can be retrieved later.</a:t>
            </a:r>
          </a:p>
        </p:txBody>
      </p:sp>
      <p:sp>
        <p:nvSpPr>
          <p:cNvPr id="4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A5C52C3-F869-49F6-8E1E-FE2368A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Sources: backend/app.py; backend/auth.py; lib/backend_api.dart; lib/detection.dart; lib/history.dart.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0D4EAB-F908-4F3D-804E-7BC204F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Dataset processing and stratified split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6928E6-1B8B-45E3-B900-293DB6E3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37B0A0-91EB-4C67-9F91-842451BC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data-pipeline-label">
            <a:extLst xmlns:a="http://schemas.openxmlformats.org/drawingml/2006/main">
              <a:ext uri="{FF2B5EF4-FFF2-40B4-BE49-F238E27FC236}">
                <a16:creationId xmlns:a16="http://schemas.microsoft.com/office/drawing/2014/main" id="{D143C519-771A-4DC8-845B-2919EF9B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Dataset preparation pipeline</a:t>
            </a:r>
          </a:p>
        </p:txBody>
      </p:sp>
      <p:sp>
        <p:nvSpPr>
          <p:cNvPr id="5" name="process-Raw ISIC2020">
            <a:extLst xmlns:a="http://schemas.openxmlformats.org/drawingml/2006/main">
              <a:ext uri="{FF2B5EF4-FFF2-40B4-BE49-F238E27FC236}">
                <a16:creationId xmlns:a16="http://schemas.microsoft.com/office/drawing/2014/main" id="{21B55E88-F3BF-47A0-BD56-E4D6900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process-title-Raw ISIC2020">
            <a:extLst xmlns:a="http://schemas.openxmlformats.org/drawingml/2006/main">
              <a:ext uri="{FF2B5EF4-FFF2-40B4-BE49-F238E27FC236}">
                <a16:creationId xmlns:a16="http://schemas.microsoft.com/office/drawing/2014/main" id="{9A2A8CAC-EF0D-4F52-981D-2DC561F0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Raw ISIC2020</a:t>
            </a:r>
          </a:p>
        </p:txBody>
      </p:sp>
      <p:sp>
        <p:nvSpPr>
          <p:cNvPr id="7" name="process-copy-Raw ISIC2020">
            <a:extLst xmlns:a="http://schemas.openxmlformats.org/drawingml/2006/main">
              <a:ext uri="{FF2B5EF4-FFF2-40B4-BE49-F238E27FC236}">
                <a16:creationId xmlns:a16="http://schemas.microsoft.com/office/drawing/2014/main" id="{54AD7981-4B7D-422F-8549-41C77E66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33,126 JPEGs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ground-truth CSV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81008A7C-6F7E-485C-A3B4-ACD221A9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95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9" name="process-Validate + label">
            <a:extLst xmlns:a="http://schemas.openxmlformats.org/drawingml/2006/main">
              <a:ext uri="{FF2B5EF4-FFF2-40B4-BE49-F238E27FC236}">
                <a16:creationId xmlns:a16="http://schemas.microsoft.com/office/drawing/2014/main" id="{95F93F34-D37F-4C73-8DFE-6BD21F32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process-title-Validate + label">
            <a:extLst xmlns:a="http://schemas.openxmlformats.org/drawingml/2006/main">
              <a:ext uri="{FF2B5EF4-FFF2-40B4-BE49-F238E27FC236}">
                <a16:creationId xmlns:a16="http://schemas.microsoft.com/office/drawing/2014/main" id="{FC6E798A-4A00-43AA-9FC3-7B3F5FB9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525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+ label</a:t>
            </a:r>
          </a:p>
        </p:txBody>
      </p:sp>
      <p:sp>
        <p:nvSpPr>
          <p:cNvPr id="11" name="process-copy-Validate + label">
            <a:extLst xmlns:a="http://schemas.openxmlformats.org/drawingml/2006/main">
              <a:ext uri="{FF2B5EF4-FFF2-40B4-BE49-F238E27FC236}">
                <a16:creationId xmlns:a16="http://schemas.microsoft.com/office/drawing/2014/main" id="{299A0D4C-D22B-4FE1-B537-F16582E4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811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resolve file path;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normalize target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814FF361-ACEC-4EF9-B2E9-14C4DF7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3" name="process-Prepared dataset">
            <a:extLst xmlns:a="http://schemas.openxmlformats.org/drawingml/2006/main">
              <a:ext uri="{FF2B5EF4-FFF2-40B4-BE49-F238E27FC236}">
                <a16:creationId xmlns:a16="http://schemas.microsoft.com/office/drawing/2014/main" id="{297AE700-3C45-4763-B476-C91FAE2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668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process-title-Prepared dataset">
            <a:extLst xmlns:a="http://schemas.openxmlformats.org/drawingml/2006/main">
              <a:ext uri="{FF2B5EF4-FFF2-40B4-BE49-F238E27FC236}">
                <a16:creationId xmlns:a16="http://schemas.microsoft.com/office/drawing/2014/main" id="{94DE2163-4E05-4AD0-9823-B68873A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52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Prepared dataset</a:t>
            </a:r>
          </a:p>
        </p:txBody>
      </p:sp>
      <p:sp>
        <p:nvSpPr>
          <p:cNvPr id="15" name="process-copy-Prepared dataset">
            <a:extLst xmlns:a="http://schemas.openxmlformats.org/drawingml/2006/main">
              <a:ext uri="{FF2B5EF4-FFF2-40B4-BE49-F238E27FC236}">
                <a16:creationId xmlns:a16="http://schemas.microsoft.com/office/drawing/2014/main" id="{DABEDF8E-E23C-4C96-A8D4-EEBDB36F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811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benign/malignant folders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+ clinical_metadata.csv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81844698-CEBE-4239-9D3F-CF814FF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95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7" name="process-PyTorch dataset">
            <a:extLst xmlns:a="http://schemas.openxmlformats.org/drawingml/2006/main">
              <a:ext uri="{FF2B5EF4-FFF2-40B4-BE49-F238E27FC236}">
                <a16:creationId xmlns:a16="http://schemas.microsoft.com/office/drawing/2014/main" id="{6FBDA9B1-633B-4002-ACF5-0E9B0357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4668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process-title-PyTorch dataset">
            <a:extLst xmlns:a="http://schemas.openxmlformats.org/drawingml/2006/main">
              <a:ext uri="{FF2B5EF4-FFF2-40B4-BE49-F238E27FC236}">
                <a16:creationId xmlns:a16="http://schemas.microsoft.com/office/drawing/2014/main" id="{2AD8139A-E393-4B49-88BC-1A844E2E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5525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PyTorch dataset</a:t>
            </a:r>
          </a:p>
        </p:txBody>
      </p:sp>
      <p:sp>
        <p:nvSpPr>
          <p:cNvPr id="19" name="process-copy-PyTorch dataset">
            <a:extLst xmlns:a="http://schemas.openxmlformats.org/drawingml/2006/main">
              <a:ext uri="{FF2B5EF4-FFF2-40B4-BE49-F238E27FC236}">
                <a16:creationId xmlns:a16="http://schemas.microsoft.com/office/drawing/2014/main" id="{56C9F8D4-B7FC-4ECD-A02A-6E1EB436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RGB image tensor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12-D clinical vector + label</a:t>
            </a:r>
          </a:p>
        </p:txBody>
      </p:sp>
      <p:sp>
        <p:nvSpPr>
          <p:cNvPr id="20" name="split-label">
            <a:extLst xmlns:a="http://schemas.openxmlformats.org/drawingml/2006/main">
              <a:ext uri="{FF2B5EF4-FFF2-40B4-BE49-F238E27FC236}">
                <a16:creationId xmlns:a16="http://schemas.microsoft.com/office/drawing/2014/main" id="{24F33971-7770-4490-AE40-C508F3DC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Stratified 80/20 split, fixed seed 42</a:t>
            </a:r>
          </a:p>
        </p:txBody>
      </p:sp>
      <p:graphicFrame>
        <p:nvGraphicFramePr>
          <p:cNvPr id="48" name=""/>
          <p:cNvGraphicFramePr/>
          <p:nvPr/>
        </p:nvGraphicFramePr>
        <p:xfrm>
          <a:off xmlns:a="http://schemas.openxmlformats.org/drawingml/2006/main" x="609600" y="2552700"/>
          <a:ext xmlns:a="http://schemas.openxmlformats.org/drawingml/2006/main" cx="4762500" cy="1104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952500"/>
                <a:gridCol w="952500"/>
                <a:gridCol w="952500"/>
                <a:gridCol w="952500"/>
              </a:tblGrid>
              <a:tr h="276225"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Subset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Benign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Malignant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Loader behavior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26,501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26,034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467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shuffle + augmentation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6,625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6,508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no shuffle; deterministic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All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33,126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32,542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class ratio preserved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panel-Clinical encoding">
            <a:extLst xmlns:a="http://schemas.openxmlformats.org/drawingml/2006/main">
              <a:ext uri="{FF2B5EF4-FFF2-40B4-BE49-F238E27FC236}">
                <a16:creationId xmlns:a16="http://schemas.microsoft.com/office/drawing/2014/main" id="{2A8F54C4-07F1-4EA3-AE7A-7EF7E03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226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head-Clinical encoding">
            <a:extLst xmlns:a="http://schemas.openxmlformats.org/drawingml/2006/main">
              <a:ext uri="{FF2B5EF4-FFF2-40B4-BE49-F238E27FC236}">
                <a16:creationId xmlns:a16="http://schemas.microsoft.com/office/drawing/2014/main" id="{EB17AECF-AE01-488B-BED3-ECE89FAA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Clinical encoding</a:t>
            </a:r>
          </a:p>
        </p:txBody>
      </p:sp>
      <p:sp>
        <p:nvSpPr>
          <p:cNvPr id="24" name="copy-Clinical encoding">
            <a:extLst xmlns:a="http://schemas.openxmlformats.org/drawingml/2006/main">
              <a:ext uri="{FF2B5EF4-FFF2-40B4-BE49-F238E27FC236}">
                <a16:creationId xmlns:a16="http://schemas.microsoft.com/office/drawing/2014/main" id="{548AE0E3-40DE-48F5-8741-BB57646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9875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3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Age is divided by 100. Sex uses 4 one-hot categories and anatomical site uses 7 one-hot categories, giving a 12-dimensional vector. Missing values map to 'unknown'.</a:t>
            </a:r>
          </a:p>
        </p:txBody>
      </p:sp>
      <p:sp>
        <p:nvSpPr>
          <p:cNvPr id="25" name="train-transform-line">
            <a:extLst xmlns:a="http://schemas.openxmlformats.org/drawingml/2006/main">
              <a:ext uri="{FF2B5EF4-FFF2-40B4-BE49-F238E27FC236}">
                <a16:creationId xmlns:a16="http://schemas.microsoft.com/office/drawing/2014/main" id="{FC636C76-04FE-44F4-8E76-8B5C97AB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3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Training transforms: random resized crop to 224, horizontal flip, rotation, colour jitter and ImageNet normalization.</a:t>
            </a:r>
          </a:p>
        </p:txBody>
      </p:sp>
      <p:sp>
        <p:nvSpPr>
          <p:cNvPr id="26" name="val-transform-line">
            <a:extLst xmlns:a="http://schemas.openxmlformats.org/drawingml/2006/main">
              <a:ext uri="{FF2B5EF4-FFF2-40B4-BE49-F238E27FC236}">
                <a16:creationId xmlns:a16="http://schemas.microsoft.com/office/drawing/2014/main" id="{145B378B-A87B-4B41-A070-5AFDFEB0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3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Validation transforms: resize to 256, center crop to 224 and ImageNet normalization; no random augmentation.</a:t>
            </a:r>
          </a:p>
        </p:txBody>
      </p:sp>
      <p:sp>
        <p:nvSpPr>
          <p:cNvPr id="2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BA3DBD1-2989-46CF-98A0-ACAE1EA0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backend/train_src/prepare_isic2020.py and backend/train_src/dataset.py.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3C843-F868-4708-9061-079A9FB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Model design and method justification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4825F0-1C68-4A68-8889-FCD6226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MULTI-MODAL FUSION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B2FEE2-A1C1-4E26-A801-D9D58D60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process-Image branch">
            <a:extLst xmlns:a="http://schemas.openxmlformats.org/drawingml/2006/main">
              <a:ext uri="{FF2B5EF4-FFF2-40B4-BE49-F238E27FC236}">
                <a16:creationId xmlns:a16="http://schemas.microsoft.com/office/drawing/2014/main" id="{C0E91838-2974-4BB4-9145-B14E4A5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process-title-Image branch">
            <a:extLst xmlns:a="http://schemas.openxmlformats.org/drawingml/2006/main">
              <a:ext uri="{FF2B5EF4-FFF2-40B4-BE49-F238E27FC236}">
                <a16:creationId xmlns:a16="http://schemas.microsoft.com/office/drawing/2014/main" id="{97485D93-6AC9-494E-91F1-368EF8E1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 branch</a:t>
            </a:r>
          </a:p>
        </p:txBody>
      </p:sp>
      <p:sp>
        <p:nvSpPr>
          <p:cNvPr id="6" name="process-copy-Image branch">
            <a:extLst xmlns:a="http://schemas.openxmlformats.org/drawingml/2006/main">
              <a:ext uri="{FF2B5EF4-FFF2-40B4-BE49-F238E27FC236}">
                <a16:creationId xmlns:a16="http://schemas.microsoft.com/office/drawing/2014/main" id="{F5543BF6-B857-4232-BFC7-6EB4708C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224 x 224 lesion image</a:t>
            </a:r>
          </a:p>
        </p:txBody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3CBF4D62-90D1-40CF-A539-7D52C23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8" name="process-ResNet50">
            <a:extLst xmlns:a="http://schemas.openxmlformats.org/drawingml/2006/main">
              <a:ext uri="{FF2B5EF4-FFF2-40B4-BE49-F238E27FC236}">
                <a16:creationId xmlns:a16="http://schemas.microsoft.com/office/drawing/2014/main" id="{8636A48A-3F1F-4D83-8EA2-11CF6A1C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process-title-ResNet50">
            <a:extLst xmlns:a="http://schemas.openxmlformats.org/drawingml/2006/main">
              <a:ext uri="{FF2B5EF4-FFF2-40B4-BE49-F238E27FC236}">
                <a16:creationId xmlns:a16="http://schemas.microsoft.com/office/drawing/2014/main" id="{C3AFFE11-AD9F-4D03-9C81-4FC1A7FA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14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ResNet50</a:t>
            </a:r>
          </a:p>
        </p:txBody>
      </p:sp>
      <p:sp>
        <p:nvSpPr>
          <p:cNvPr id="10" name="process-copy-ResNet50">
            <a:extLst xmlns:a="http://schemas.openxmlformats.org/drawingml/2006/main">
              <a:ext uri="{FF2B5EF4-FFF2-40B4-BE49-F238E27FC236}">
                <a16:creationId xmlns:a16="http://schemas.microsoft.com/office/drawing/2014/main" id="{D06D5300-5EDF-4B6F-AB64-0D02C7E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43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pretrained feature extractor</a:t>
            </a:r>
          </a:p>
        </p:txBody>
      </p:sp>
      <p:sp>
        <p:nvSpPr>
          <p:cNvPr id="11" name="process-Clinical branch">
            <a:extLst xmlns:a="http://schemas.openxmlformats.org/drawingml/2006/main">
              <a:ext uri="{FF2B5EF4-FFF2-40B4-BE49-F238E27FC236}">
                <a16:creationId xmlns:a16="http://schemas.microsoft.com/office/drawing/2014/main" id="{98585903-95D3-4164-9E78-621C043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process-title-Clinical branch">
            <a:extLst xmlns:a="http://schemas.openxmlformats.org/drawingml/2006/main">
              <a:ext uri="{FF2B5EF4-FFF2-40B4-BE49-F238E27FC236}">
                <a16:creationId xmlns:a16="http://schemas.microsoft.com/office/drawing/2014/main" id="{7AB3A73B-2875-465C-BA9A-D8B5FD30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Clinical branch</a:t>
            </a:r>
          </a:p>
        </p:txBody>
      </p:sp>
      <p:sp>
        <p:nvSpPr>
          <p:cNvPr id="13" name="process-copy-Clinical branch">
            <a:extLst xmlns:a="http://schemas.openxmlformats.org/drawingml/2006/main">
              <a:ext uri="{FF2B5EF4-FFF2-40B4-BE49-F238E27FC236}">
                <a16:creationId xmlns:a16="http://schemas.microsoft.com/office/drawing/2014/main" id="{9B075067-2815-453B-A97E-8D8794F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age, sex, anatomical site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6BA18C31-FE0C-4CE2-A89D-3CFA3AB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5" name="process-MLP">
            <a:extLst xmlns:a="http://schemas.openxmlformats.org/drawingml/2006/main">
              <a:ext uri="{FF2B5EF4-FFF2-40B4-BE49-F238E27FC236}">
                <a16:creationId xmlns:a16="http://schemas.microsoft.com/office/drawing/2014/main" id="{BBF80099-0165-4CEE-B8BB-4923723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process-title-MLP">
            <a:extLst xmlns:a="http://schemas.openxmlformats.org/drawingml/2006/main">
              <a:ext uri="{FF2B5EF4-FFF2-40B4-BE49-F238E27FC236}">
                <a16:creationId xmlns:a16="http://schemas.microsoft.com/office/drawing/2014/main" id="{82DE6BA6-F419-4F66-A125-EDAD3B7F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57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17" name="process-copy-MLP">
            <a:extLst xmlns:a="http://schemas.openxmlformats.org/drawingml/2006/main">
              <a:ext uri="{FF2B5EF4-FFF2-40B4-BE49-F238E27FC236}">
                <a16:creationId xmlns:a16="http://schemas.microsoft.com/office/drawing/2014/main" id="{74F1ABEA-C1D6-4249-B00E-220F21FA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86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128-dim metadata feature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DC2AE5B7-0723-4ABC-812D-048A9F6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9" name="process-Concatenate">
            <a:extLst xmlns:a="http://schemas.openxmlformats.org/drawingml/2006/main">
              <a:ext uri="{FF2B5EF4-FFF2-40B4-BE49-F238E27FC236}">
                <a16:creationId xmlns:a16="http://schemas.microsoft.com/office/drawing/2014/main" id="{AEFF39F6-7C6F-4B6D-B24E-3F54BD25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02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process-title-Concatenate">
            <a:extLst xmlns:a="http://schemas.openxmlformats.org/drawingml/2006/main">
              <a:ext uri="{FF2B5EF4-FFF2-40B4-BE49-F238E27FC236}">
                <a16:creationId xmlns:a16="http://schemas.microsoft.com/office/drawing/2014/main" id="{1FAD5F8A-DFAF-4D2B-8E48-B8BC88A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85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Concatenate</a:t>
            </a:r>
          </a:p>
        </p:txBody>
      </p:sp>
      <p:sp>
        <p:nvSpPr>
          <p:cNvPr id="21" name="process-copy-Concatenate">
            <a:extLst xmlns:a="http://schemas.openxmlformats.org/drawingml/2006/main">
              <a:ext uri="{FF2B5EF4-FFF2-40B4-BE49-F238E27FC236}">
                <a16:creationId xmlns:a16="http://schemas.microsoft.com/office/drawing/2014/main" id="{43773593-3815-4043-BE74-DA2F4793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145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image + clinical features</a:t>
            </a:r>
          </a:p>
        </p:txBody>
      </p:sp>
      <p:sp>
        <p:nvSpPr>
          <p:cNvPr id="22" name="arrow">
            <a:extLst xmlns:a="http://schemas.openxmlformats.org/drawingml/2006/main">
              <a:ext uri="{FF2B5EF4-FFF2-40B4-BE49-F238E27FC236}">
                <a16:creationId xmlns:a16="http://schemas.microsoft.com/office/drawing/2014/main" id="{CDC2664C-E846-4E04-A1F8-E4625C9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3" name="process-Classifier">
            <a:extLst xmlns:a="http://schemas.openxmlformats.org/drawingml/2006/main">
              <a:ext uri="{FF2B5EF4-FFF2-40B4-BE49-F238E27FC236}">
                <a16:creationId xmlns:a16="http://schemas.microsoft.com/office/drawing/2014/main" id="{91AEF4A3-6153-4986-AF2A-CB7F483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process-title-Classifier">
            <a:extLst xmlns:a="http://schemas.openxmlformats.org/drawingml/2006/main">
              <a:ext uri="{FF2B5EF4-FFF2-40B4-BE49-F238E27FC236}">
                <a16:creationId xmlns:a16="http://schemas.microsoft.com/office/drawing/2014/main" id="{D540CCDA-731D-4159-B237-732EF4E3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85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25" name="process-copy-Classifier">
            <a:extLst xmlns:a="http://schemas.openxmlformats.org/drawingml/2006/main">
              <a:ext uri="{FF2B5EF4-FFF2-40B4-BE49-F238E27FC236}">
                <a16:creationId xmlns:a16="http://schemas.microsoft.com/office/drawing/2014/main" id="{43E1BD54-057F-441F-BB6E-CE97253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benign / malignant</a:t>
            </a:r>
          </a:p>
        </p:txBody>
      </p:sp>
      <p:graphicFrame>
        <p:nvGraphicFramePr>
          <p:cNvPr id="52" name=""/>
          <p:cNvGraphicFramePr/>
          <p:nvPr/>
        </p:nvGraphicFramePr>
        <p:xfrm>
          <a:off xmlns:a="http://schemas.openxmlformats.org/drawingml/2006/main" x="762000" y="3524250"/>
          <a:ext xmlns:a="http://schemas.openxmlformats.org/drawingml/2006/main" cx="6953250" cy="590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76625"/>
                <a:gridCol w="3476625"/>
              </a:tblGrid>
              <a:tr h="147638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Training setting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147638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Epochs / batch / LR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8 / 32 / 1e-4</a:t>
                      </a:r>
                    </a:p>
                  </a:txBody>
                  <a:tcPr marL="91440" marR="91440" marT="45720" marB="45720"/>
                </a:tc>
              </a:tr>
              <a:tr h="147638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Image-only baseline vs multi-modal model</a:t>
                      </a:r>
                    </a:p>
                  </a:txBody>
                  <a:tcPr marL="91440" marR="91440" marT="45720" marB="45720"/>
                </a:tc>
              </a:tr>
              <a:tr h="147638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Main selection 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Validation AUC, with recall/F1/balanced accuracy reported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7B8CF0-BF09-464A-9414-E8F6E668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Progress to date: tangible deliverables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4DE967A-09F5-46F6-9945-11C61DF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87E3E6-7466-4D1D-A28C-E5904E08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panel-Model training">
            <a:extLst xmlns:a="http://schemas.openxmlformats.org/drawingml/2006/main">
              <a:ext uri="{FF2B5EF4-FFF2-40B4-BE49-F238E27FC236}">
                <a16:creationId xmlns:a16="http://schemas.microsoft.com/office/drawing/2014/main" id="{0A4EEB81-7F26-45D7-BA85-81DB917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head-Model training">
            <a:extLst xmlns:a="http://schemas.openxmlformats.org/drawingml/2006/main">
              <a:ext uri="{FF2B5EF4-FFF2-40B4-BE49-F238E27FC236}">
                <a16:creationId xmlns:a16="http://schemas.microsoft.com/office/drawing/2014/main" id="{98429F88-08E3-4D55-A77A-C441662E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training</a:t>
            </a:r>
          </a:p>
        </p:txBody>
      </p:sp>
      <p:sp>
        <p:nvSpPr>
          <p:cNvPr id="6" name="copy-Model training">
            <a:extLst xmlns:a="http://schemas.openxmlformats.org/drawingml/2006/main">
              <a:ext uri="{FF2B5EF4-FFF2-40B4-BE49-F238E27FC236}">
                <a16:creationId xmlns:a16="http://schemas.microsoft.com/office/drawing/2014/main" id="{75ADE94B-31E6-478F-BB11-A3012A4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Formal image-only and multi-modal experiments completed; CSV metrics, predictions and figures generated.</a:t>
            </a:r>
          </a:p>
        </p:txBody>
      </p:sp>
      <p:sp>
        <p:nvSpPr>
          <p:cNvPr id="7" name="panel-Backend">
            <a:extLst xmlns:a="http://schemas.openxmlformats.org/drawingml/2006/main">
              <a:ext uri="{FF2B5EF4-FFF2-40B4-BE49-F238E27FC236}">
                <a16:creationId xmlns:a16="http://schemas.microsoft.com/office/drawing/2014/main" id="{7339755E-530B-4AA3-9AC5-BCAC4895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144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head-Backend">
            <a:extLst xmlns:a="http://schemas.openxmlformats.org/drawingml/2006/main">
              <a:ext uri="{FF2B5EF4-FFF2-40B4-BE49-F238E27FC236}">
                <a16:creationId xmlns:a16="http://schemas.microsoft.com/office/drawing/2014/main" id="{37413736-D9E9-4880-97F1-370AFB50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9" name="copy-Backend">
            <a:extLst xmlns:a="http://schemas.openxmlformats.org/drawingml/2006/main">
              <a:ext uri="{FF2B5EF4-FFF2-40B4-BE49-F238E27FC236}">
                <a16:creationId xmlns:a16="http://schemas.microsoft.com/office/drawing/2014/main" id="{BAD16351-447F-422D-8D29-9BCBBFD3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478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FastAPI loads the trained checkpoint, accepts image and metadata fields, returns top-k prediction and disclaimer.</a:t>
            </a:r>
          </a:p>
        </p:txBody>
      </p:sp>
      <p:sp>
        <p:nvSpPr>
          <p:cNvPr id="10" name="panel-Mobile app">
            <a:extLst xmlns:a="http://schemas.openxmlformats.org/drawingml/2006/main">
              <a:ext uri="{FF2B5EF4-FFF2-40B4-BE49-F238E27FC236}">
                <a16:creationId xmlns:a16="http://schemas.microsoft.com/office/drawing/2014/main" id="{47FAEC57-D65C-4766-9D4B-50FD3F5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144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head-Mobile app">
            <a:extLst xmlns:a="http://schemas.openxmlformats.org/drawingml/2006/main">
              <a:ext uri="{FF2B5EF4-FFF2-40B4-BE49-F238E27FC236}">
                <a16:creationId xmlns:a16="http://schemas.microsoft.com/office/drawing/2014/main" id="{55704439-8D39-4E60-9820-575665A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Mobile app</a:t>
            </a:r>
          </a:p>
        </p:txBody>
      </p:sp>
      <p:sp>
        <p:nvSpPr>
          <p:cNvPr id="12" name="copy-Mobile app">
            <a:extLst xmlns:a="http://schemas.openxmlformats.org/drawingml/2006/main">
              <a:ext uri="{FF2B5EF4-FFF2-40B4-BE49-F238E27FC236}">
                <a16:creationId xmlns:a16="http://schemas.microsoft.com/office/drawing/2014/main" id="{098E0AC8-C636-45A2-B2D2-394EC92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478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Flutter screens support login/session flow, lesion image input, clinical form, prediction display and history.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762000" y="2590800"/>
          <a:ext xmlns:a="http://schemas.openxmlformats.org/drawingml/2006/main" cx="6953250" cy="1162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76625"/>
                <a:gridCol w="3476625"/>
              </a:tblGrid>
              <a:tr h="23241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Implemented evidence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Authentication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register, login, current user endpoint and bearer token checks</a:t>
                      </a:r>
                    </a:p>
                  </a:txBody>
                  <a:tcPr marL="91440" marR="91440" marT="45720" marB="45720"/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Prediction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multipart image upload with age, sex, anatomical site and top-k parameter</a:t>
                      </a:r>
                    </a:p>
                  </a:txBody>
                  <a:tcPr marL="91440" marR="91440" marT="45720" marB="45720"/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SQLite prediction_history table plus /history endpoint</a:t>
                      </a:r>
                    </a:p>
                  </a:txBody>
                  <a:tcPr marL="91440" marR="91440" marT="45720" marB="45720"/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Flutter client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Backend API client, detection screen, clinical inputs and history screen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2BCCA82-3D60-4D25-B533-D7398979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Sources: backend/app.py; backend/auth.py; lib/detection.dart; lib/backend_api.dart; lib/history.dart.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62FC1E-2A0A-49B7-A813-C8629DD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Initial results: multi-modal model improves the baseline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0A0DB0A-4834-41B2-B8A9-B5C5368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CE8B60-595F-4B3C-B653-366ABF1E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381125"/>
          <a:ext xmlns:a="http://schemas.openxmlformats.org/drawingml/2006/main" cx="49530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e85ab463b547bb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5810250" y="1381125"/>
          <a:ext xmlns:a="http://schemas.openxmlformats.org/drawingml/2006/main" cx="2266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55650"/>
                <a:gridCol w="755650"/>
                <a:gridCol w="755650"/>
              </a:tblGrid>
              <a:tr h="26352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Image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Fusion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90.2%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92.0%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0.855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0.874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Avg 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0.128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0.152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51.3%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53.8%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0.156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0.191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anel-Interpretation">
            <a:extLst xmlns:a="http://schemas.openxmlformats.org/drawingml/2006/main">
              <a:ext uri="{FF2B5EF4-FFF2-40B4-BE49-F238E27FC236}">
                <a16:creationId xmlns:a16="http://schemas.microsoft.com/office/drawing/2014/main" id="{3F35B49B-224C-44E8-8030-EEB4046F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head-Interpretation">
            <a:extLst xmlns:a="http://schemas.openxmlformats.org/drawingml/2006/main">
              <a:ext uri="{FF2B5EF4-FFF2-40B4-BE49-F238E27FC236}">
                <a16:creationId xmlns:a16="http://schemas.microsoft.com/office/drawing/2014/main" id="{ED0415D1-A2C4-4D13-9EB2-CE94325B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8" name="copy-Interpretation">
            <a:extLst xmlns:a="http://schemas.openxmlformats.org/drawingml/2006/main">
              <a:ext uri="{FF2B5EF4-FFF2-40B4-BE49-F238E27FC236}">
                <a16:creationId xmlns:a16="http://schemas.microsoft.com/office/drawing/2014/main" id="{E7D80511-C5E2-4490-BFFF-AA2EEA7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766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Fusion improved AUC, average precision, malignant recall, F1 and balanced accuracy on the same validation size of 6,625.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134C30D-8570-482D-9E7E-669F992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metrics_summary.csv from formal baseline and multi-modal experiment folders.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F630B2-87EA-41C7-8AB2-F2B3104D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Discussion of results and remaining limitations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FDA319B-83E8-4977-A5CF-25F9A4E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842715-DA54-4F19-BA8A-462B191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3429000" cy="1352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85800"/>
                <a:gridCol w="685800"/>
                <a:gridCol w="685800"/>
                <a:gridCol w="685800"/>
                <a:gridCol w="685800"/>
              </a:tblGrid>
              <a:tr h="45085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Confusion matrix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Image-only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5916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Multi-modal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6030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478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anel-What improved">
            <a:extLst xmlns:a="http://schemas.openxmlformats.org/drawingml/2006/main">
              <a:ext uri="{FF2B5EF4-FFF2-40B4-BE49-F238E27FC236}">
                <a16:creationId xmlns:a16="http://schemas.microsoft.com/office/drawing/2014/main" id="{5A6FF3D4-83CB-459B-A57D-E84E7BE5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144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head-What improved">
            <a:extLst xmlns:a="http://schemas.openxmlformats.org/drawingml/2006/main">
              <a:ext uri="{FF2B5EF4-FFF2-40B4-BE49-F238E27FC236}">
                <a16:creationId xmlns:a16="http://schemas.microsoft.com/office/drawing/2014/main" id="{46C73D02-6E92-4FE9-9D77-293290AD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09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improved</a:t>
            </a:r>
          </a:p>
        </p:txBody>
      </p:sp>
      <p:sp>
        <p:nvSpPr>
          <p:cNvPr id="7" name="copy-What improved">
            <a:extLst xmlns:a="http://schemas.openxmlformats.org/drawingml/2006/main">
              <a:ext uri="{FF2B5EF4-FFF2-40B4-BE49-F238E27FC236}">
                <a16:creationId xmlns:a16="http://schemas.microsoft.com/office/drawing/2014/main" id="{5D6137B5-1B22-4C56-AA32-C0C3BEA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4782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False positives reduced from 592 to 478; true positives increased from 60 to 63.</a:t>
            </a:r>
          </a:p>
        </p:txBody>
      </p:sp>
      <p:sp>
        <p:nvSpPr>
          <p:cNvPr id="8" name="panel-What still limits the model">
            <a:extLst xmlns:a="http://schemas.openxmlformats.org/drawingml/2006/main">
              <a:ext uri="{FF2B5EF4-FFF2-40B4-BE49-F238E27FC236}">
                <a16:creationId xmlns:a16="http://schemas.microsoft.com/office/drawing/2014/main" id="{D119AB79-E3DD-484A-A921-9D6A042F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head-What still limits the model">
            <a:extLst xmlns:a="http://schemas.openxmlformats.org/drawingml/2006/main">
              <a:ext uri="{FF2B5EF4-FFF2-40B4-BE49-F238E27FC236}">
                <a16:creationId xmlns:a16="http://schemas.microsoft.com/office/drawing/2014/main" id="{EFB47E21-1170-4964-B35A-03DE90CC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still limits the model</a:t>
            </a:r>
          </a:p>
        </p:txBody>
      </p:sp>
      <p:sp>
        <p:nvSpPr>
          <p:cNvPr id="10" name="copy-What still limits the model">
            <a:extLst xmlns:a="http://schemas.openxmlformats.org/drawingml/2006/main">
              <a:ext uri="{FF2B5EF4-FFF2-40B4-BE49-F238E27FC236}">
                <a16:creationId xmlns:a16="http://schemas.microsoft.com/office/drawing/2014/main" id="{C4161164-A6D1-4C68-ADBF-651A3FB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288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malignant class remains small, so precision and F1 are still low even when AUC and specificity improve.</a:t>
            </a:r>
          </a:p>
        </p:txBody>
      </p:sp>
      <p:sp>
        <p:nvSpPr>
          <p:cNvPr id="11" name="panel-Next technical step">
            <a:extLst xmlns:a="http://schemas.openxmlformats.org/drawingml/2006/main">
              <a:ext uri="{FF2B5EF4-FFF2-40B4-BE49-F238E27FC236}">
                <a16:creationId xmlns:a16="http://schemas.microsoft.com/office/drawing/2014/main" id="{1B6A9840-6D27-4BB1-9E6D-F2677BF0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head-Next technical step">
            <a:extLst xmlns:a="http://schemas.openxmlformats.org/drawingml/2006/main">
              <a:ext uri="{FF2B5EF4-FFF2-40B4-BE49-F238E27FC236}">
                <a16:creationId xmlns:a16="http://schemas.microsoft.com/office/drawing/2014/main" id="{47E76E41-F833-40C6-941C-F6407EAD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technical step</a:t>
            </a:r>
          </a:p>
        </p:txBody>
      </p:sp>
      <p:sp>
        <p:nvSpPr>
          <p:cNvPr id="13" name="copy-Next technical step">
            <a:extLst xmlns:a="http://schemas.openxmlformats.org/drawingml/2006/main">
              <a:ext uri="{FF2B5EF4-FFF2-40B4-BE49-F238E27FC236}">
                <a16:creationId xmlns:a16="http://schemas.microsoft.com/office/drawing/2014/main" id="{39D23485-032B-4B58-B8B6-A081D66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Threshold analysis should guide the screening operating point instead of default argmax alone.</a:t>
            </a:r>
          </a:p>
        </p:txBody>
      </p:sp>
      <p:sp>
        <p:nvSpPr>
          <p:cNvPr id="14" name="panel-App implication">
            <a:extLst xmlns:a="http://schemas.openxmlformats.org/drawingml/2006/main">
              <a:ext uri="{FF2B5EF4-FFF2-40B4-BE49-F238E27FC236}">
                <a16:creationId xmlns:a16="http://schemas.microsoft.com/office/drawing/2014/main" id="{54855E28-2B1F-4B4F-8602-4826FF56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head-App implication">
            <a:extLst xmlns:a="http://schemas.openxmlformats.org/drawingml/2006/main">
              <a:ext uri="{FF2B5EF4-FFF2-40B4-BE49-F238E27FC236}">
                <a16:creationId xmlns:a16="http://schemas.microsoft.com/office/drawing/2014/main" id="{75EC1A4F-AD4B-4E6C-B01C-8EC9B8B9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956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 implication</a:t>
            </a:r>
          </a:p>
        </p:txBody>
      </p:sp>
      <p:sp>
        <p:nvSpPr>
          <p:cNvPr id="16" name="copy-App implication">
            <a:extLst xmlns:a="http://schemas.openxmlformats.org/drawingml/2006/main">
              <a:ext uri="{FF2B5EF4-FFF2-40B4-BE49-F238E27FC236}">
                <a16:creationId xmlns:a16="http://schemas.microsoft.com/office/drawing/2014/main" id="{60171B56-5F2B-4F41-90C3-4B8F9281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UI should show confidence as screening support with a visible medical limitation statement.</a:t>
            </a:r>
          </a:p>
        </p:txBody>
      </p:sp>
      <p:sp>
        <p:nvSpPr>
          <p:cNvPr id="17" name="panel-Evaluation implication">
            <a:extLst xmlns:a="http://schemas.openxmlformats.org/drawingml/2006/main">
              <a:ext uri="{FF2B5EF4-FFF2-40B4-BE49-F238E27FC236}">
                <a16:creationId xmlns:a16="http://schemas.microsoft.com/office/drawing/2014/main" id="{5A37AF7C-55C6-4FE7-880C-C32459A1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0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head-Evaluation implication">
            <a:extLst xmlns:a="http://schemas.openxmlformats.org/drawingml/2006/main">
              <a:ext uri="{FF2B5EF4-FFF2-40B4-BE49-F238E27FC236}">
                <a16:creationId xmlns:a16="http://schemas.microsoft.com/office/drawing/2014/main" id="{53294C28-664E-423F-813C-AC8B436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 implication</a:t>
            </a:r>
          </a:p>
        </p:txBody>
      </p:sp>
      <p:sp>
        <p:nvSpPr>
          <p:cNvPr id="19" name="copy-Evaluation implication">
            <a:extLst xmlns:a="http://schemas.openxmlformats.org/drawingml/2006/main">
              <a:ext uri="{FF2B5EF4-FFF2-40B4-BE49-F238E27FC236}">
                <a16:creationId xmlns:a16="http://schemas.microsoft.com/office/drawing/2014/main" id="{3A7C16AC-BC87-47CD-8423-6B6B663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Future testing should include more robustness checks and explicit subgroup analysis where data permits.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000B48-42A7-45CC-93B6-D37B913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Management plan, feedback response, risk and ethics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515973-82BB-4B13-8ABF-BE8BE11C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PROJECT CONTROL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03B888-E988-48C7-8315-EB9E9EE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gantt-title">
            <a:extLst xmlns:a="http://schemas.openxmlformats.org/drawingml/2006/main">
              <a:ext uri="{FF2B5EF4-FFF2-40B4-BE49-F238E27FC236}">
                <a16:creationId xmlns:a16="http://schemas.microsoft.com/office/drawing/2014/main" id="{F94B0288-4A39-42DE-8B0F-10F612C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12-week plan and current position</a:t>
            </a:r>
          </a:p>
        </p:txBody>
      </p:sp>
      <p:sp>
        <p:nvSpPr>
          <p:cNvPr id="5" name="week-1">
            <a:extLst xmlns:a="http://schemas.openxmlformats.org/drawingml/2006/main">
              <a:ext uri="{FF2B5EF4-FFF2-40B4-BE49-F238E27FC236}">
                <a16:creationId xmlns:a16="http://schemas.microsoft.com/office/drawing/2014/main" id="{0297864C-463D-4051-BBF1-04D7B2D7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week-2">
            <a:extLst xmlns:a="http://schemas.openxmlformats.org/drawingml/2006/main">
              <a:ext uri="{FF2B5EF4-FFF2-40B4-BE49-F238E27FC236}">
                <a16:creationId xmlns:a16="http://schemas.microsoft.com/office/drawing/2014/main" id="{C57BCB6A-87AC-4785-8F29-B94C35D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week-3">
            <a:extLst xmlns:a="http://schemas.openxmlformats.org/drawingml/2006/main">
              <a:ext uri="{FF2B5EF4-FFF2-40B4-BE49-F238E27FC236}">
                <a16:creationId xmlns:a16="http://schemas.microsoft.com/office/drawing/2014/main" id="{BF512D5E-7CA4-412F-9366-1050C68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week-4">
            <a:extLst xmlns:a="http://schemas.openxmlformats.org/drawingml/2006/main">
              <a:ext uri="{FF2B5EF4-FFF2-40B4-BE49-F238E27FC236}">
                <a16:creationId xmlns:a16="http://schemas.microsoft.com/office/drawing/2014/main" id="{DAD9C4CE-083D-4DB3-A1C9-9F89AA17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week-5">
            <a:extLst xmlns:a="http://schemas.openxmlformats.org/drawingml/2006/main">
              <a:ext uri="{FF2B5EF4-FFF2-40B4-BE49-F238E27FC236}">
                <a16:creationId xmlns:a16="http://schemas.microsoft.com/office/drawing/2014/main" id="{E21306D3-E9A5-42C7-AE64-6697E9FF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week-6">
            <a:extLst xmlns:a="http://schemas.openxmlformats.org/drawingml/2006/main">
              <a:ext uri="{FF2B5EF4-FFF2-40B4-BE49-F238E27FC236}">
                <a16:creationId xmlns:a16="http://schemas.microsoft.com/office/drawing/2014/main" id="{7DD862F5-9C1F-46D1-B7DB-B5BC9174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week-7">
            <a:extLst xmlns:a="http://schemas.openxmlformats.org/drawingml/2006/main">
              <a:ext uri="{FF2B5EF4-FFF2-40B4-BE49-F238E27FC236}">
                <a16:creationId xmlns:a16="http://schemas.microsoft.com/office/drawing/2014/main" id="{D69B69EF-8F98-476A-AB59-DC06FA8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week-8">
            <a:extLst xmlns:a="http://schemas.openxmlformats.org/drawingml/2006/main">
              <a:ext uri="{FF2B5EF4-FFF2-40B4-BE49-F238E27FC236}">
                <a16:creationId xmlns:a16="http://schemas.microsoft.com/office/drawing/2014/main" id="{396B71DD-D1F5-4449-89B5-5CB43D2D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week-9">
            <a:extLst xmlns:a="http://schemas.openxmlformats.org/drawingml/2006/main">
              <a:ext uri="{FF2B5EF4-FFF2-40B4-BE49-F238E27FC236}">
                <a16:creationId xmlns:a16="http://schemas.microsoft.com/office/drawing/2014/main" id="{5C3D89FB-CC08-4F1D-9A4C-082F17BB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week-10">
            <a:extLst xmlns:a="http://schemas.openxmlformats.org/drawingml/2006/main">
              <a:ext uri="{FF2B5EF4-FFF2-40B4-BE49-F238E27FC236}">
                <a16:creationId xmlns:a16="http://schemas.microsoft.com/office/drawing/2014/main" id="{9989F887-64C4-4AFB-AC8B-BE517C8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week-11">
            <a:extLst xmlns:a="http://schemas.openxmlformats.org/drawingml/2006/main">
              <a:ext uri="{FF2B5EF4-FFF2-40B4-BE49-F238E27FC236}">
                <a16:creationId xmlns:a16="http://schemas.microsoft.com/office/drawing/2014/main" id="{B485D12D-A9A1-4C17-830A-843B2E8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week-12">
            <a:extLst xmlns:a="http://schemas.openxmlformats.org/drawingml/2006/main">
              <a:ext uri="{FF2B5EF4-FFF2-40B4-BE49-F238E27FC236}">
                <a16:creationId xmlns:a16="http://schemas.microsoft.com/office/drawing/2014/main" id="{4B30D8D3-2A1E-439C-939B-DC005A18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gantt-label-0">
            <a:extLst xmlns:a="http://schemas.openxmlformats.org/drawingml/2006/main">
              <a:ext uri="{FF2B5EF4-FFF2-40B4-BE49-F238E27FC236}">
                <a16:creationId xmlns:a16="http://schemas.microsoft.com/office/drawing/2014/main" id="{B6C8B430-67BA-4868-BEBA-47BD476C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Research + dataset</a:t>
            </a:r>
          </a:p>
        </p:txBody>
      </p:sp>
      <p:sp>
        <p:nvSpPr>
          <p:cNvPr id="18" name="gantt-bar-0">
            <a:extLst xmlns:a="http://schemas.openxmlformats.org/drawingml/2006/main">
              <a:ext uri="{FF2B5EF4-FFF2-40B4-BE49-F238E27FC236}">
                <a16:creationId xmlns:a16="http://schemas.microsoft.com/office/drawing/2014/main" id="{EB626640-CDD5-4DFE-8B2B-BDF08D8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19" name="gantt-label-1">
            <a:extLst xmlns:a="http://schemas.openxmlformats.org/drawingml/2006/main">
              <a:ext uri="{FF2B5EF4-FFF2-40B4-BE49-F238E27FC236}">
                <a16:creationId xmlns:a16="http://schemas.microsoft.com/office/drawing/2014/main" id="{0D3BA6F6-A113-4F26-8F0F-F8500C5A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Baseline + fusion model</a:t>
            </a:r>
          </a:p>
        </p:txBody>
      </p:sp>
      <p:sp>
        <p:nvSpPr>
          <p:cNvPr id="20" name="gantt-bar-1">
            <a:extLst xmlns:a="http://schemas.openxmlformats.org/drawingml/2006/main">
              <a:ext uri="{FF2B5EF4-FFF2-40B4-BE49-F238E27FC236}">
                <a16:creationId xmlns:a16="http://schemas.microsoft.com/office/drawing/2014/main" id="{5C1D5DD3-1673-4931-B86E-847BEE5A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7350"/>
            <a:ext cx="132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1" name="gantt-label-2">
            <a:extLst xmlns:a="http://schemas.openxmlformats.org/drawingml/2006/main">
              <a:ext uri="{FF2B5EF4-FFF2-40B4-BE49-F238E27FC236}">
                <a16:creationId xmlns:a16="http://schemas.microsoft.com/office/drawing/2014/main" id="{F24DC9D0-4632-4C09-A0C7-8ADFC097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Evaluation + figures</a:t>
            </a:r>
          </a:p>
        </p:txBody>
      </p:sp>
      <p:sp>
        <p:nvSpPr>
          <p:cNvPr id="22" name="gantt-bar-2">
            <a:extLst xmlns:a="http://schemas.openxmlformats.org/drawingml/2006/main">
              <a:ext uri="{FF2B5EF4-FFF2-40B4-BE49-F238E27FC236}">
                <a16:creationId xmlns:a16="http://schemas.microsoft.com/office/drawing/2014/main" id="{06F3FFBC-8AAA-4EE0-9EE4-5CDACFE9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3" name="gantt-label-3">
            <a:extLst xmlns:a="http://schemas.openxmlformats.org/drawingml/2006/main">
              <a:ext uri="{FF2B5EF4-FFF2-40B4-BE49-F238E27FC236}">
                <a16:creationId xmlns:a16="http://schemas.microsoft.com/office/drawing/2014/main" id="{4FE6D8F6-56F7-4205-B9E2-088F5A6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Backend + app integration</a:t>
            </a:r>
          </a:p>
        </p:txBody>
      </p:sp>
      <p:sp>
        <p:nvSpPr>
          <p:cNvPr id="24" name="gantt-bar-3">
            <a:extLst xmlns:a="http://schemas.openxmlformats.org/drawingml/2006/main">
              <a:ext uri="{FF2B5EF4-FFF2-40B4-BE49-F238E27FC236}">
                <a16:creationId xmlns:a16="http://schemas.microsoft.com/office/drawing/2014/main" id="{007A5E4F-22E0-4A95-881E-65BCD90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32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DBD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5" name="gantt-label-4">
            <a:extLst xmlns:a="http://schemas.openxmlformats.org/drawingml/2006/main">
              <a:ext uri="{FF2B5EF4-FFF2-40B4-BE49-F238E27FC236}">
                <a16:creationId xmlns:a16="http://schemas.microsoft.com/office/drawing/2014/main" id="{3FB96255-2343-4425-961C-69E40A9C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Testing + report</a:t>
            </a:r>
          </a:p>
        </p:txBody>
      </p:sp>
      <p:sp>
        <p:nvSpPr>
          <p:cNvPr id="26" name="gantt-bar-4">
            <a:extLst xmlns:a="http://schemas.openxmlformats.org/drawingml/2006/main">
              <a:ext uri="{FF2B5EF4-FFF2-40B4-BE49-F238E27FC236}">
                <a16:creationId xmlns:a16="http://schemas.microsoft.com/office/drawing/2014/main" id="{57BBE5C8-585F-40B2-82AE-E9DB8598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86000"/>
            <a:ext cx="132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FAF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7" name="current-marker">
            <a:extLst xmlns:a="http://schemas.openxmlformats.org/drawingml/2006/main">
              <a:ext uri="{FF2B5EF4-FFF2-40B4-BE49-F238E27FC236}">
                <a16:creationId xmlns:a16="http://schemas.microsoft.com/office/drawing/2014/main" id="{46966F36-405E-4C9F-91C9-7AF6C240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9065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1F1F"/>
            </a:solidFill>
            <a:prstDash val="dash"/>
          </a:ln>
        </p:spPr>
      </p:sp>
      <p:sp>
        <p:nvSpPr>
          <p:cNvPr id="28" name="panel-Plan refinements after review">
            <a:extLst xmlns:a="http://schemas.openxmlformats.org/drawingml/2006/main">
              <a:ext uri="{FF2B5EF4-FFF2-40B4-BE49-F238E27FC236}">
                <a16:creationId xmlns:a16="http://schemas.microsoft.com/office/drawing/2014/main" id="{C0F327BE-8AC3-4480-A5E0-E1296985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head-Plan refinements after review">
            <a:extLst xmlns:a="http://schemas.openxmlformats.org/drawingml/2006/main">
              <a:ext uri="{FF2B5EF4-FFF2-40B4-BE49-F238E27FC236}">
                <a16:creationId xmlns:a16="http://schemas.microsoft.com/office/drawing/2014/main" id="{67E8F2DF-29F9-487E-A891-306C0E36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 refinements after review</a:t>
            </a:r>
          </a:p>
        </p:txBody>
      </p:sp>
      <p:sp>
        <p:nvSpPr>
          <p:cNvPr id="30" name="copy-Plan refinements after review">
            <a:extLst xmlns:a="http://schemas.openxmlformats.org/drawingml/2006/main">
              <a:ext uri="{FF2B5EF4-FFF2-40B4-BE49-F238E27FC236}">
                <a16:creationId xmlns:a16="http://schemas.microsoft.com/office/drawing/2014/main" id="{52E96B84-4858-4C6E-BFBB-1070794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Scope narrowed to a backend PyTorch deployment for mid-term stability; ONNX/local inference moved to future work; baseline comparison kept central.</a:t>
            </a:r>
          </a:p>
        </p:txBody>
      </p:sp>
      <p:sp>
        <p:nvSpPr>
          <p:cNvPr id="31" name="panel-Main risks">
            <a:extLst xmlns:a="http://schemas.openxmlformats.org/drawingml/2006/main">
              <a:ext uri="{FF2B5EF4-FFF2-40B4-BE49-F238E27FC236}">
                <a16:creationId xmlns:a16="http://schemas.microsoft.com/office/drawing/2014/main" id="{0D2F1A33-FCAF-487A-B3DB-71E92DA5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2" name="head-Main risks">
            <a:extLst xmlns:a="http://schemas.openxmlformats.org/drawingml/2006/main">
              <a:ext uri="{FF2B5EF4-FFF2-40B4-BE49-F238E27FC236}">
                <a16:creationId xmlns:a16="http://schemas.microsoft.com/office/drawing/2014/main" id="{1230F2D2-198E-42F2-B0A9-EC2AAEA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risks</a:t>
            </a:r>
          </a:p>
        </p:txBody>
      </p:sp>
      <p:sp>
        <p:nvSpPr>
          <p:cNvPr id="33" name="copy-Main risks">
            <a:extLst xmlns:a="http://schemas.openxmlformats.org/drawingml/2006/main">
              <a:ext uri="{FF2B5EF4-FFF2-40B4-BE49-F238E27FC236}">
                <a16:creationId xmlns:a16="http://schemas.microsoft.com/office/drawing/2014/main" id="{39C90246-3B77-4156-924A-A6019E7E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Class imbalance, overfitting, preprocessing mismatch, missing metadata and user misunderstanding of medical output.</a:t>
            </a:r>
          </a:p>
        </p:txBody>
      </p:sp>
      <p:sp>
        <p:nvSpPr>
          <p:cNvPr id="34" name="panel-Ethics controls">
            <a:extLst xmlns:a="http://schemas.openxmlformats.org/drawingml/2006/main">
              <a:ext uri="{FF2B5EF4-FFF2-40B4-BE49-F238E27FC236}">
                <a16:creationId xmlns:a16="http://schemas.microsoft.com/office/drawing/2014/main" id="{954E9899-9A41-40F9-936D-4A3D6F1F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head-Ethics controls">
            <a:extLst xmlns:a="http://schemas.openxmlformats.org/drawingml/2006/main">
              <a:ext uri="{FF2B5EF4-FFF2-40B4-BE49-F238E27FC236}">
                <a16:creationId xmlns:a16="http://schemas.microsoft.com/office/drawing/2014/main" id="{BF31FBD4-2B94-484C-B9E4-66B670C6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Ethics controls</a:t>
            </a:r>
          </a:p>
        </p:txBody>
      </p:sp>
      <p:sp>
        <p:nvSpPr>
          <p:cNvPr id="36" name="copy-Ethics controls">
            <a:extLst xmlns:a="http://schemas.openxmlformats.org/drawingml/2006/main">
              <a:ext uri="{FF2B5EF4-FFF2-40B4-BE49-F238E27FC236}">
                <a16:creationId xmlns:a16="http://schemas.microsoft.com/office/drawing/2014/main" id="{A2655F8E-BA96-4B38-8929-B69F35BA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051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Use public research data only, store prototype history locally, avoid diagnostic claims and include a medical disclaimer.</a:t>
            </a:r>
          </a:p>
        </p:txBody>
      </p:sp>
      <p:sp>
        <p:nvSpPr>
          <p:cNvPr id="3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60F5293-07E8-4AE5-93A3-0EBD84C3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Project log-book risk assessment, ethics assessment and management plan.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5B9608-E031-4C97-9F3F-0A754DC6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Conclusion and references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32A38B5-1610-4E36-8E55-343A529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0318D7-E265-412A-B4B2-02DB731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conclusion">
            <a:extLst xmlns:a="http://schemas.openxmlformats.org/drawingml/2006/main">
              <a:ext uri="{FF2B5EF4-FFF2-40B4-BE49-F238E27FC236}">
                <a16:creationId xmlns:a16="http://schemas.microsoft.com/office/drawing/2014/main" id="{6C3A8C98-85A7-4600-981A-4B890AD6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810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Mid-term conclusion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The end-to-end prototype is substantially implemented.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Multi-modal fusion improves key validation metrics over the image-only baseline.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The remaining work is evaluation polish, app testing, report writing and deployment extension.</a:t>
            </a:r>
          </a:p>
        </p:txBody>
      </p:sp>
      <p:sp>
        <p:nvSpPr>
          <p:cNvPr id="5" name="panel-What still needs to be achieved">
            <a:extLst xmlns:a="http://schemas.openxmlformats.org/drawingml/2006/main">
              <a:ext uri="{FF2B5EF4-FFF2-40B4-BE49-F238E27FC236}">
                <a16:creationId xmlns:a16="http://schemas.microsoft.com/office/drawing/2014/main" id="{7CC21071-5BA6-4BB5-B837-D891FF4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954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head-What still needs to be achieved">
            <a:extLst xmlns:a="http://schemas.openxmlformats.org/drawingml/2006/main">
              <a:ext uri="{FF2B5EF4-FFF2-40B4-BE49-F238E27FC236}">
                <a16:creationId xmlns:a16="http://schemas.microsoft.com/office/drawing/2014/main" id="{847499E5-953C-40C6-AC71-E40A4AF6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still needs to be achieved</a:t>
            </a:r>
          </a:p>
        </p:txBody>
      </p:sp>
      <p:sp>
        <p:nvSpPr>
          <p:cNvPr id="7" name="copy-What still needs to be achieved">
            <a:extLst xmlns:a="http://schemas.openxmlformats.org/drawingml/2006/main">
              <a:ext uri="{FF2B5EF4-FFF2-40B4-BE49-F238E27FC236}">
                <a16:creationId xmlns:a16="http://schemas.microsoft.com/office/drawing/2014/main" id="{D8381CDA-B9A4-4B3C-A684-EA26C7F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287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Select an operating threshold, add stronger app testing evidence, finalise dissertation figures, and decide whether ONNX/local inference is included as an extension.</a:t>
            </a:r>
          </a:p>
        </p:txBody>
      </p:sp>
      <p:sp>
        <p:nvSpPr>
          <p:cNvPr id="8" name="refs">
            <a:extLst xmlns:a="http://schemas.openxmlformats.org/drawingml/2006/main">
              <a:ext uri="{FF2B5EF4-FFF2-40B4-BE49-F238E27FC236}">
                <a16:creationId xmlns:a16="http://schemas.microsoft.com/office/drawing/2014/main" id="{E5BC5813-0DC0-45B7-ACE0-BB0791F6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3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He, K. et al. (2016) Deep Residual Learning for Image Recognition. CVPR.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Esteva, A. et al. (2017) Dermatologist-level classification of skin cancer with deep neural networks. Nature.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ISIC Challenge Datasets. International Skin Imaging Collaboration.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Results from the 2020 SIIM-ISIC Melanoma Classification Challenge. Open access article.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Project source code, log-book and formal experiment CSV outputs.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Default Design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2026-06-17T20:39:31.8460000Z</dcterms:created>
  <dcterms:modified xsi:type="dcterms:W3CDTF">2026-06-17T20:39:31.8460000Z</dcterms:modified>
</coreProperties>
</file>